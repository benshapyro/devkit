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5" r:id="rId46"/>
    <p:sldId id="296" r:id="rId47"/>
    <p:sldId id="297" r:id="rId48"/>
    <p:sldId id="292" r:id="rId43"/>
    <p:sldId id="293" r:id="rId44"/>
    <p:sldId id="294" r:id="rId4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opening slide with client name and period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25" y="246705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381155" y="3008040"/>
            <a:ext cx="438169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600"/>
              </a:spcAft>
              <a:buNone/>
            </a:pPr>
            <a:r>
              <a:rPr lang="en-US" sz="33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00025" y="3503340"/>
            <a:ext cx="87439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Business Review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0025" y="4177680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 Year] · Month [X] of [Y]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439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status, key wins, active challenges, and critical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47650"/>
            <a:ext cx="25856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0500" y="1604516"/>
            <a:ext cx="8763000" cy="751433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425" y="1766441"/>
            <a:ext cx="8607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52425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#1]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216325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#2]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80224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#3]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2470249"/>
            <a:ext cx="8763000" cy="923776"/>
          </a:xfrm>
          <a:prstGeom prst="roundRect">
            <a:avLst>
              <a:gd name="adj" fmla="val 1237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" y="2632174"/>
            <a:ext cx="8607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CHALLENGES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52425" y="287402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Title]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425" y="307211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287402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Title]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307211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0500" y="3508325"/>
            <a:ext cx="8763000" cy="752326"/>
          </a:xfrm>
          <a:prstGeom prst="roundRect">
            <a:avLst>
              <a:gd name="adj" fmla="val 15193"/>
            </a:avLst>
          </a:prstGeom>
          <a:solidFill>
            <a:srgbClr val="F2EFE4"/>
          </a:solidFill>
          <a:ln w="19050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1950" y="3679775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 NEEDED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61950" y="3902571"/>
            <a:ext cx="8588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[Critical question requiring client input]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accomplishments, completed deliverables, and key metrics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884015"/>
            <a:ext cx="51297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310705"/>
            <a:ext cx="5029200" cy="1876425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453580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2734568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#2]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28625" y="3015555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#3]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8625" y="3296543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#4]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577530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#5]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8625" y="3858518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#6]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05450" y="1166961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05450" y="1441252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75948" y="1641277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675948" y="2159347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05450" y="2633663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5948" y="2833688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675948" y="3351758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5450" y="3826073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75948" y="4026098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675948" y="4544169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72700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982242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0435" y="2144167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0435" y="2555528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28875" y="1982242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3560" y="2144167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73560" y="2555528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2959298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0435" y="3121223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0435" y="353258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428875" y="2959298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73560" y="3121223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73560" y="353258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5750" y="3936355"/>
            <a:ext cx="4191000" cy="407640"/>
          </a:xfrm>
          <a:prstGeom prst="roundRect">
            <a:avLst>
              <a:gd name="adj" fmla="val 2336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0142" y="4060180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[Summary or comparison note]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143038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685627"/>
            <a:ext cx="4191000" cy="995363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1828502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#1]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0125" y="2090440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#2]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0125" y="2352377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#3]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67250" y="2852440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BREAKDOWN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7250" y="3107680"/>
            <a:ext cx="4191000" cy="1533079"/>
          </a:xfrm>
          <a:prstGeom prst="roundRect">
            <a:avLst>
              <a:gd name="adj" fmla="val 621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25055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1]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0125" y="342959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810125" y="3698081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2]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0125" y="387712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10125" y="4145607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3]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0125" y="432464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93967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 COMPLETED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213967"/>
            <a:ext cx="41910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289976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3174057"/>
            <a:ext cx="4191000" cy="957263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3316932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#1]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8625" y="3559820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#2]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802707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#3]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76837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2023616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0" y="2028379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3488" y="2023616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7250" y="2715071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6300" y="2023616"/>
            <a:ext cx="0" cy="696218"/>
          </a:xfrm>
          <a:prstGeom prst="line">
            <a:avLst/>
          </a:prstGeom>
          <a:noFill/>
          <a:ln w="38100">
            <a:solidFill>
              <a:srgbClr val="DB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700" y="2166491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2391221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67250" y="2815084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2819846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53488" y="2815084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7250" y="3506539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2815084"/>
            <a:ext cx="0" cy="696218"/>
          </a:xfrm>
          <a:prstGeom prst="line">
            <a:avLst/>
          </a:prstGeom>
          <a:noFill/>
          <a:ln w="38100">
            <a:solidFill>
              <a:srgbClr val="0874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8700" y="2957959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8700" y="3182689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667250" y="3606552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7250" y="3611314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3488" y="3606552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7250" y="4298007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606552"/>
            <a:ext cx="0" cy="696218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8700" y="3749427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8700" y="3974157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Plans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blockers, root causes, actions taken, and work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Plans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50792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934617"/>
            <a:ext cx="4191000" cy="1034355"/>
          </a:xfrm>
          <a:prstGeom prst="roundRect">
            <a:avLst>
              <a:gd name="adj" fmla="val 9209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2096542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headline]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7675" y="2359372"/>
            <a:ext cx="39444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[Context and impact]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47675" y="2621310"/>
            <a:ext cx="39444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[Identified root cause]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85750" y="323567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TAKEN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5750" y="3643313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378618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#1]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28625" y="4016573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#2]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" y="424695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#3]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67250" y="129882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725513"/>
            <a:ext cx="4191000" cy="740866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9175" y="1887438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 item title]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9175" y="213121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and timeline]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67250" y="2733080"/>
            <a:ext cx="4191000" cy="740866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9175" y="2895005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 item title]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9175" y="3138785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and timeline]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67250" y="389304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4300686"/>
            <a:ext cx="4191000" cy="471488"/>
          </a:xfrm>
          <a:prstGeom prst="roundRect">
            <a:avLst>
              <a:gd name="adj" fmla="val 20202"/>
            </a:avLst>
          </a:prstGeom>
          <a:solidFill>
            <a:srgbClr val="F2EFE4"/>
          </a:solidFill>
          <a:ln w="9525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4443561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requiring client input]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NEEDED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8745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414141"/>
            <a:ext cx="4191000" cy="14409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85750" y="2418904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988" y="2414141"/>
            <a:ext cx="0" cy="1440954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750" y="3850332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" y="2414141"/>
            <a:ext cx="0" cy="1440954"/>
          </a:xfrm>
          <a:prstGeom prst="line">
            <a:avLst/>
          </a:prstGeom>
          <a:noFill/>
          <a:ln w="38100">
            <a:solidFill>
              <a:srgbClr val="DB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50" y="2576066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[What's blocked]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250" y="2857946"/>
            <a:ext cx="39153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it's blocked - root cause or dependency]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6250" y="3157984"/>
            <a:ext cx="3838575" cy="535186"/>
          </a:xfrm>
          <a:prstGeom prst="roundRect">
            <a:avLst>
              <a:gd name="adj" fmla="val 1067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253234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UNRESOLVED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437930"/>
            <a:ext cx="3721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slip, cost, risk description]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63666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2063353"/>
            <a:ext cx="4191000" cy="21425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2068116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3488" y="2063353"/>
            <a:ext cx="0" cy="214253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7250" y="4201120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2063353"/>
            <a:ext cx="0" cy="2142530"/>
          </a:xfrm>
          <a:prstGeom prst="line">
            <a:avLst/>
          </a:prstGeom>
          <a:noFill/>
          <a:ln w="38100">
            <a:solidFill>
              <a:srgbClr val="0874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2225278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[Specific decision or action needed]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57750" y="2526209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57750" y="2729954"/>
            <a:ext cx="3915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option and what it means]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57750" y="3017490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57750" y="3221236"/>
            <a:ext cx="3915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 option and what it means]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57750" y="3508772"/>
            <a:ext cx="3838575" cy="535186"/>
          </a:xfrm>
          <a:prstGeom prst="roundRect">
            <a:avLst>
              <a:gd name="adj" fmla="val 1067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3000" y="3604022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53000" y="3788718"/>
            <a:ext cx="3721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[Recommended path and why]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Update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64708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073771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216646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24279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2812703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29555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#2]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16691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3551634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369450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#3]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" y="390584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64708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2073771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2216646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#1]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10125" y="24279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2812703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29555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#2]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0125" y="316691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3551634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69450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#3]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0125" y="390584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requiring client input, recommendations, or open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NEEDED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[Topic]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678061"/>
          </a:xfrm>
          <a:prstGeom prst="roundRect">
            <a:avLst>
              <a:gd name="adj" fmla="val 14047"/>
            </a:avLst>
          </a:prstGeom>
          <a:solidFill>
            <a:srgbClr val="F2EFE4"/>
          </a:solidFill>
          <a:ln w="19050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080046"/>
            <a:ext cx="8471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question requiring decision]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100" y="1331416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[Context for why this decision matters]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1875532"/>
            <a:ext cx="4210050" cy="2807643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675" y="203745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 Condition A]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47675" y="2382143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A Title]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47675" y="284886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#1]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7675" y="321840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#2]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7675" y="358794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#3]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7675" y="395748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#4]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7675" y="4274641"/>
            <a:ext cx="38862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675" y="437465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impact]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48200" y="1875532"/>
            <a:ext cx="4210050" cy="2807643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203745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 Condition B]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10125" y="2382143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B Title]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810125" y="284886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#1]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0125" y="321840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#2]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0125" y="358794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#3]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0125" y="395748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#4]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10125" y="4274641"/>
            <a:ext cx="38862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0125" y="437465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impact]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[Topic]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174700"/>
            <a:ext cx="8572500" cy="122292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384250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607046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[Recommended action or decision]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5300" y="1988046"/>
            <a:ext cx="8316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rationale - why this is the right choice]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2550021"/>
            <a:ext cx="4210050" cy="1213098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271194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7675" y="296718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#1]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47675" y="3197572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#2]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47675" y="342795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#3]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2550021"/>
            <a:ext cx="4210050" cy="1213098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271194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0125" y="296718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[Risk or trade-off #1]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0125" y="3197572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[Risk or trade-off #2]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10125" y="342795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[Mitigation approach]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5750" y="3915519"/>
            <a:ext cx="8572500" cy="657076"/>
          </a:xfrm>
          <a:prstGeom prst="roundRect">
            <a:avLst>
              <a:gd name="adj" fmla="val 1449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4058394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IF APPROVED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8625" y="4256484"/>
            <a:ext cx="8452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happens next and timeline]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[Discussion Topic]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012603"/>
            <a:ext cx="8572500" cy="752475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260253"/>
            <a:ext cx="82387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question or topic to explore together]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2955578"/>
            <a:ext cx="8572500" cy="760065"/>
          </a:xfrm>
          <a:prstGeom prst="roundRect">
            <a:avLst>
              <a:gd name="adj" fmla="val 12532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675" y="3117503"/>
            <a:ext cx="8413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7675" y="3353693"/>
            <a:ext cx="8413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[Background information to frame the discussion]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Screenshots, workflow diagrams, videos, or other visual content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3911054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6672" y="2677418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66672" y="2966889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840 × 380 px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3138636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6672" y="2291209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66672" y="2580680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840 × 280 px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4199632"/>
            <a:ext cx="8572500" cy="715268"/>
          </a:xfrm>
          <a:prstGeom prst="roundRect">
            <a:avLst>
              <a:gd name="adj" fmla="val 1331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4342507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[Caption Title]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8625" y="4586288"/>
            <a:ext cx="845248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explaining what the asset shows and why it matters]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2658368"/>
            <a:ext cx="5878860" cy="487561"/>
          </a:xfrm>
          <a:prstGeom prst="roundRect">
            <a:avLst>
              <a:gd name="adj" fmla="val 23443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19927" y="2677418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9927" y="2966889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500 × 360 px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55110" y="1754535"/>
            <a:ext cx="25532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110" y="2028825"/>
            <a:ext cx="2503140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97985" y="2171700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#1]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497985" y="2452688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#2]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497985" y="2733675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#3]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97985" y="3014663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#4]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355110" y="3457575"/>
            <a:ext cx="2503140" cy="592336"/>
          </a:xfrm>
          <a:prstGeom prst="roundRect">
            <a:avLst>
              <a:gd name="adj" fmla="val 16080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8935" y="3581400"/>
            <a:ext cx="23006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478935" y="3766096"/>
            <a:ext cx="23006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[Additional context]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Resources, dashboards, and tools to share with the client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25" y="236607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337917" y="2665065"/>
            <a:ext cx="2468166" cy="815280"/>
          </a:xfrm>
          <a:prstGeom prst="roundRect">
            <a:avLst>
              <a:gd name="adj" fmla="val 14020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65839" y="2912715"/>
            <a:ext cx="201232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[Link URL or Title]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0025" y="3708946"/>
            <a:ext cx="87439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3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[Resource Name]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0025" y="4063157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they'll find: metrics, history, settings, etc.]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[Resource Name]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703040"/>
            <a:ext cx="4171950" cy="75232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744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2097286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[URL]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2569666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FIND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2843957"/>
            <a:ext cx="41719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2986832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#1]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248769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#2]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8625" y="3510707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#3]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28625" y="3772644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#4]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2658368"/>
            <a:ext cx="4210050" cy="487561"/>
          </a:xfrm>
          <a:prstGeom prst="roundRect">
            <a:avLst>
              <a:gd name="adj" fmla="val 23443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86763" y="2677418"/>
            <a:ext cx="1532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[Preview Screenshot]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6763" y="2966889"/>
            <a:ext cx="1532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400 × 360 px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projects, expansions, or upsell opportunities to explore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Opportunities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8625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28625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8625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187750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30625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30625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0625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30625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30625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30625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89749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2624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32624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2624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32624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32624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32624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84921"/>
            <a:ext cx="4191000" cy="960090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2146846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7675" y="2383036"/>
            <a:ext cx="3944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[Detailed problem description - what pain point exists and who feels it]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3059311"/>
            <a:ext cx="4191000" cy="760065"/>
          </a:xfrm>
          <a:prstGeom prst="roundRect">
            <a:avLst>
              <a:gd name="adj" fmla="val 1253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675" y="3221236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675" y="3457426"/>
            <a:ext cx="3944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[Detailed solution description - what we would build/implement]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7250" y="1520428"/>
            <a:ext cx="4191000" cy="1194048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68235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9175" y="1918543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#1]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29175" y="214892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#2]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29175" y="2379315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#3]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2828776"/>
            <a:ext cx="2038350" cy="683716"/>
          </a:xfrm>
          <a:prstGeom prst="roundRect">
            <a:avLst>
              <a:gd name="adj" fmla="val 1393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2599" y="297165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92599" y="3156347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weeks]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9900" y="2828776"/>
            <a:ext cx="2038350" cy="683716"/>
          </a:xfrm>
          <a:prstGeom prst="roundRect">
            <a:avLst>
              <a:gd name="adj" fmla="val 1393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5249" y="297165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945249" y="3156347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 - $Y]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7250" y="3626793"/>
            <a:ext cx="4191000" cy="657076"/>
          </a:xfrm>
          <a:prstGeom prst="roundRect">
            <a:avLst>
              <a:gd name="adj" fmla="val 1449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769668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0125" y="396775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happens if they're interested]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to Explore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348383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491258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1662708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1874044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19625" y="1348383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0" y="1491258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0" y="1662708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0" y="1874044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85750" y="2248346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2391221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8625" y="2562671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28625" y="2774007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19625" y="2248346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2391221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62500" y="2562671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62500" y="2774007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85750" y="3148310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8625" y="3291185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8625" y="3462635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28625" y="3673971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19625" y="3148310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3291185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2500" y="3462635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62500" y="3673971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5750" y="4048274"/>
            <a:ext cx="8572500" cy="407640"/>
          </a:xfrm>
          <a:prstGeom prst="roundRect">
            <a:avLst>
              <a:gd name="adj" fmla="val 2336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327" y="4172099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[Which of these would you like to explore further?]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discussion, structured feedback requests, or pulse checks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[Discussion Topic]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435423"/>
            <a:ext cx="8572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721173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 for open discussion]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REQUEST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Like Your Input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1]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5775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775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94000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4025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2]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94025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4025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8325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2251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02276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3]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2276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2276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16576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metrics, engagement health, and retrospective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Scorecard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86794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INDICATORS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123182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004" y="2494657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1]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11004" y="2679353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8875" y="2123182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54129" y="2494657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2]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554129" y="2679353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3077468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1004" y="3448943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3]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1004" y="3633639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8875" y="3077468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4129" y="3448943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4]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54129" y="3633639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660475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915716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205859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#1]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0125" y="2288977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#2]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10125" y="2519363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#3]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67250" y="296882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7250" y="3224064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36693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#1]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0125" y="359732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#2]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10125" y="382771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#3]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next period focus areas, and key upcoming dates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14674"/>
            <a:ext cx="51297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TIMELINE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341364"/>
            <a:ext cx="5029200" cy="1548408"/>
          </a:xfrm>
          <a:prstGeom prst="roundRect">
            <a:avLst>
              <a:gd name="adj" fmla="val 615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254228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575" y="2503289"/>
            <a:ext cx="11405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1]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0575" y="2663279"/>
            <a:ext cx="1140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 - Complete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47675" y="300126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0575" y="2962275"/>
            <a:ext cx="11011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2] - Current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575" y="3122265"/>
            <a:ext cx="11011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47675" y="34602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5E2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0575" y="3421261"/>
            <a:ext cx="588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3]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0575" y="3581251"/>
            <a:ext cx="5882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05450" y="1651843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PERIOD FOCUS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05450" y="1926134"/>
            <a:ext cx="33528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8325" y="2069009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#1]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48325" y="2299395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#2]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648325" y="2529780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#3]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505450" y="2998291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5450" y="3272582"/>
            <a:ext cx="3352800" cy="880021"/>
          </a:xfrm>
          <a:prstGeom prst="roundRect">
            <a:avLst>
              <a:gd name="adj" fmla="val 10824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48325" y="341545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48325" y="363259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48325" y="384973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and next steps for client and Cadre teams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9355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420243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25821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14375" y="28869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#2]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14375" y="31917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#3]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14375" y="34965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#4]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667250" y="199355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TEAM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7250" y="2420243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5875" y="25821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#1]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95875" y="28869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#2]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095875" y="31917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#3]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095875" y="34965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#4]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" name="Text 0"/>
          <p:cNvSpPr/>
          <p:nvPr/>
        </p:nvSpPr>
        <p:spPr>
          <a:xfrm>
            <a:off x="304800" y="228600"/>
            <a:ext cx="4362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Roadmap</a:t>
            </a:r>
            <a:endParaRPr lang="en-US" sz="1575" dirty="0"/>
          </a:p>
        </p:txBody>
      </p:sp>
      <p:sp>
        <p:nvSpPr>
          <p:cNvPr id="10003" name="Text 1"/>
          <p:cNvSpPr/>
          <p:nvPr/>
        </p:nvSpPr>
        <p:spPr>
          <a:xfrm>
            <a:off x="2003393" y="733425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'26</a:t>
            </a:r>
            <a:endParaRPr lang="en-US" sz="825" dirty="0"/>
          </a:p>
        </p:txBody>
      </p:sp>
      <p:sp>
        <p:nvSpPr>
          <p:cNvPr id="10004" name="Text 2"/>
          <p:cNvSpPr/>
          <p:nvPr/>
        </p:nvSpPr>
        <p:spPr>
          <a:xfrm>
            <a:off x="3746468" y="733425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'26</a:t>
            </a:r>
            <a:endParaRPr lang="en-US" sz="825" dirty="0"/>
          </a:p>
        </p:txBody>
      </p:sp>
      <p:sp>
        <p:nvSpPr>
          <p:cNvPr id="10005" name="Text 3"/>
          <p:cNvSpPr/>
          <p:nvPr/>
        </p:nvSpPr>
        <p:spPr>
          <a:xfrm>
            <a:off x="5489543" y="733425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825" dirty="0"/>
          </a:p>
        </p:txBody>
      </p:sp>
      <p:sp>
        <p:nvSpPr>
          <p:cNvPr id="10006" name="Text 4"/>
          <p:cNvSpPr/>
          <p:nvPr/>
        </p:nvSpPr>
        <p:spPr>
          <a:xfrm>
            <a:off x="7232618" y="733425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</a:t>
            </a:r>
            <a:endParaRPr lang="en-US" sz="825" dirty="0"/>
          </a:p>
        </p:txBody>
      </p:sp>
      <p:sp>
        <p:nvSpPr>
          <p:cNvPr id="10007" name="Text 5"/>
          <p:cNvSpPr/>
          <p:nvPr/>
        </p:nvSpPr>
        <p:spPr>
          <a:xfrm>
            <a:off x="304800" y="1108621"/>
            <a:ext cx="1524000" cy="247650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08" name="Shape 6"/>
          <p:cNvSpPr/>
          <p:nvPr/>
        </p:nvSpPr>
        <p:spPr>
          <a:xfrm>
            <a:off x="319088" y="1108621"/>
            <a:ext cx="0" cy="247650"/>
          </a:xfrm>
          <a:prstGeom prst="line">
            <a:avLst/>
          </a:prstGeom>
          <a:noFill/>
          <a:ln w="28575">
            <a:solidFill>
              <a:srgbClr val="CA8A04"/>
            </a:solidFill>
            <a:prstDash val="solid"/>
          </a:ln>
        </p:spPr>
      </p:sp>
      <p:sp>
        <p:nvSpPr>
          <p:cNvPr id="10009" name="Text 7"/>
          <p:cNvSpPr/>
          <p:nvPr/>
        </p:nvSpPr>
        <p:spPr>
          <a:xfrm>
            <a:off x="428625" y="1165771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1]</a:t>
            </a:r>
            <a:endParaRPr lang="en-US" sz="750" dirty="0"/>
          </a:p>
        </p:txBody>
      </p:sp>
      <p:sp>
        <p:nvSpPr>
          <p:cNvPr id="10010" name="Text 8"/>
          <p:cNvSpPr/>
          <p:nvPr/>
        </p:nvSpPr>
        <p:spPr>
          <a:xfrm>
            <a:off x="428625" y="1394371"/>
            <a:ext cx="14281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name]</a:t>
            </a:r>
            <a:endParaRPr lang="en-US" sz="675" dirty="0"/>
          </a:p>
        </p:txBody>
      </p:sp>
      <p:sp>
        <p:nvSpPr>
          <p:cNvPr id="10011" name="Shape 9"/>
          <p:cNvSpPr/>
          <p:nvPr/>
        </p:nvSpPr>
        <p:spPr>
          <a:xfrm>
            <a:off x="3771900" y="1108621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12" name="Shape 10"/>
          <p:cNvSpPr/>
          <p:nvPr/>
        </p:nvSpPr>
        <p:spPr>
          <a:xfrm>
            <a:off x="5462588" y="1108621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13" name="Shape 11"/>
          <p:cNvSpPr/>
          <p:nvPr/>
        </p:nvSpPr>
        <p:spPr>
          <a:xfrm>
            <a:off x="7153275" y="1108621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14" name="Text 12"/>
          <p:cNvSpPr/>
          <p:nvPr/>
        </p:nvSpPr>
        <p:spPr>
          <a:xfrm>
            <a:off x="2076450" y="1222921"/>
            <a:ext cx="1690688" cy="152400"/>
          </a:xfrm>
          <a:prstGeom prst="roundRect">
            <a:avLst>
              <a:gd name="adj" fmla="val 125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15" name="Text 13"/>
          <p:cNvSpPr/>
          <p:nvPr/>
        </p:nvSpPr>
        <p:spPr>
          <a:xfrm>
            <a:off x="3767138" y="1222921"/>
            <a:ext cx="1690688" cy="152400"/>
          </a:xfrm>
          <a:prstGeom prst="roundRect">
            <a:avLst>
              <a:gd name="adj" fmla="val 125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16" name="Text 14"/>
          <p:cNvSpPr/>
          <p:nvPr/>
        </p:nvSpPr>
        <p:spPr>
          <a:xfrm>
            <a:off x="304800" y="1781026"/>
            <a:ext cx="1524000" cy="247650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17" name="Shape 15"/>
          <p:cNvSpPr/>
          <p:nvPr/>
        </p:nvSpPr>
        <p:spPr>
          <a:xfrm>
            <a:off x="319088" y="1781026"/>
            <a:ext cx="0" cy="247650"/>
          </a:xfrm>
          <a:prstGeom prst="line">
            <a:avLst/>
          </a:prstGeom>
          <a:noFill/>
          <a:ln w="28575">
            <a:solidFill>
              <a:srgbClr val="CA8A04"/>
            </a:solidFill>
            <a:prstDash val="solid"/>
          </a:ln>
        </p:spPr>
      </p:sp>
      <p:sp>
        <p:nvSpPr>
          <p:cNvPr id="10018" name="Text 16"/>
          <p:cNvSpPr/>
          <p:nvPr/>
        </p:nvSpPr>
        <p:spPr>
          <a:xfrm>
            <a:off x="428625" y="1838176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2]</a:t>
            </a:r>
            <a:endParaRPr lang="en-US" sz="750" dirty="0"/>
          </a:p>
        </p:txBody>
      </p:sp>
      <p:sp>
        <p:nvSpPr>
          <p:cNvPr id="10019" name="Text 17"/>
          <p:cNvSpPr/>
          <p:nvPr/>
        </p:nvSpPr>
        <p:spPr>
          <a:xfrm>
            <a:off x="428625" y="2066776"/>
            <a:ext cx="14281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name]</a:t>
            </a:r>
            <a:endParaRPr lang="en-US" sz="675" dirty="0"/>
          </a:p>
        </p:txBody>
      </p:sp>
      <p:sp>
        <p:nvSpPr>
          <p:cNvPr id="10020" name="Shape 18"/>
          <p:cNvSpPr/>
          <p:nvPr/>
        </p:nvSpPr>
        <p:spPr>
          <a:xfrm>
            <a:off x="3771900" y="1781026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21" name="Shape 19"/>
          <p:cNvSpPr/>
          <p:nvPr/>
        </p:nvSpPr>
        <p:spPr>
          <a:xfrm>
            <a:off x="5462588" y="1781026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22" name="Shape 20"/>
          <p:cNvSpPr/>
          <p:nvPr/>
        </p:nvSpPr>
        <p:spPr>
          <a:xfrm>
            <a:off x="7153275" y="1781026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23" name="Text 21"/>
          <p:cNvSpPr/>
          <p:nvPr/>
        </p:nvSpPr>
        <p:spPr>
          <a:xfrm>
            <a:off x="2076450" y="1895326"/>
            <a:ext cx="3381375" cy="152400"/>
          </a:xfrm>
          <a:prstGeom prst="roundRect">
            <a:avLst>
              <a:gd name="adj" fmla="val 125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24" name="Text 22"/>
          <p:cNvSpPr/>
          <p:nvPr/>
        </p:nvSpPr>
        <p:spPr>
          <a:xfrm>
            <a:off x="5457825" y="1895326"/>
            <a:ext cx="1690688" cy="152400"/>
          </a:xfrm>
          <a:prstGeom prst="roundRect">
            <a:avLst>
              <a:gd name="adj" fmla="val 125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25" name="Text 23"/>
          <p:cNvSpPr/>
          <p:nvPr/>
        </p:nvSpPr>
        <p:spPr>
          <a:xfrm>
            <a:off x="304800" y="2453432"/>
            <a:ext cx="1524000" cy="247650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26" name="Shape 24"/>
          <p:cNvSpPr/>
          <p:nvPr/>
        </p:nvSpPr>
        <p:spPr>
          <a:xfrm>
            <a:off x="319088" y="2453432"/>
            <a:ext cx="0" cy="247650"/>
          </a:xfrm>
          <a:prstGeom prst="line">
            <a:avLst/>
          </a:prstGeom>
          <a:noFill/>
          <a:ln w="28575">
            <a:solidFill>
              <a:srgbClr val="CA8A04"/>
            </a:solidFill>
            <a:prstDash val="solid"/>
          </a:ln>
        </p:spPr>
      </p:sp>
      <p:sp>
        <p:nvSpPr>
          <p:cNvPr id="10027" name="Text 25"/>
          <p:cNvSpPr/>
          <p:nvPr/>
        </p:nvSpPr>
        <p:spPr>
          <a:xfrm>
            <a:off x="428625" y="2510582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3]</a:t>
            </a:r>
            <a:endParaRPr lang="en-US" sz="750" dirty="0"/>
          </a:p>
        </p:txBody>
      </p:sp>
      <p:sp>
        <p:nvSpPr>
          <p:cNvPr id="10028" name="Text 26"/>
          <p:cNvSpPr/>
          <p:nvPr/>
        </p:nvSpPr>
        <p:spPr>
          <a:xfrm>
            <a:off x="428625" y="2739182"/>
            <a:ext cx="14281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name]</a:t>
            </a:r>
            <a:endParaRPr lang="en-US" sz="675" dirty="0"/>
          </a:p>
        </p:txBody>
      </p:sp>
      <p:sp>
        <p:nvSpPr>
          <p:cNvPr id="10029" name="Shape 27"/>
          <p:cNvSpPr/>
          <p:nvPr/>
        </p:nvSpPr>
        <p:spPr>
          <a:xfrm>
            <a:off x="3771900" y="2453432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30" name="Shape 28"/>
          <p:cNvSpPr/>
          <p:nvPr/>
        </p:nvSpPr>
        <p:spPr>
          <a:xfrm>
            <a:off x="5462588" y="2453432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31" name="Shape 29"/>
          <p:cNvSpPr/>
          <p:nvPr/>
        </p:nvSpPr>
        <p:spPr>
          <a:xfrm>
            <a:off x="7153275" y="2453432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32" name="Text 30"/>
          <p:cNvSpPr/>
          <p:nvPr/>
        </p:nvSpPr>
        <p:spPr>
          <a:xfrm>
            <a:off x="3767138" y="2567732"/>
            <a:ext cx="5072063" cy="152400"/>
          </a:xfrm>
          <a:prstGeom prst="roundRect">
            <a:avLst>
              <a:gd name="adj" fmla="val 125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33" name="Text 31"/>
          <p:cNvSpPr/>
          <p:nvPr/>
        </p:nvSpPr>
        <p:spPr>
          <a:xfrm>
            <a:off x="304800" y="3125837"/>
            <a:ext cx="1524000" cy="247650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34" name="Shape 32"/>
          <p:cNvSpPr/>
          <p:nvPr/>
        </p:nvSpPr>
        <p:spPr>
          <a:xfrm>
            <a:off x="319088" y="3125837"/>
            <a:ext cx="0" cy="247650"/>
          </a:xfrm>
          <a:prstGeom prst="line">
            <a:avLst/>
          </a:prstGeom>
          <a:noFill/>
          <a:ln w="28575">
            <a:solidFill>
              <a:srgbClr val="CA8A04"/>
            </a:solidFill>
            <a:prstDash val="solid"/>
          </a:ln>
        </p:spPr>
      </p:sp>
      <p:sp>
        <p:nvSpPr>
          <p:cNvPr id="10035" name="Text 33"/>
          <p:cNvSpPr/>
          <p:nvPr/>
        </p:nvSpPr>
        <p:spPr>
          <a:xfrm>
            <a:off x="428625" y="3182987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4]</a:t>
            </a:r>
            <a:endParaRPr lang="en-US" sz="750" dirty="0"/>
          </a:p>
        </p:txBody>
      </p:sp>
      <p:sp>
        <p:nvSpPr>
          <p:cNvPr id="10036" name="Text 34"/>
          <p:cNvSpPr/>
          <p:nvPr/>
        </p:nvSpPr>
        <p:spPr>
          <a:xfrm>
            <a:off x="428625" y="3411587"/>
            <a:ext cx="14281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name]</a:t>
            </a:r>
            <a:endParaRPr lang="en-US" sz="675" dirty="0"/>
          </a:p>
        </p:txBody>
      </p:sp>
      <p:sp>
        <p:nvSpPr>
          <p:cNvPr id="10037" name="Shape 35"/>
          <p:cNvSpPr/>
          <p:nvPr/>
        </p:nvSpPr>
        <p:spPr>
          <a:xfrm>
            <a:off x="3771900" y="3125837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38" name="Shape 36"/>
          <p:cNvSpPr/>
          <p:nvPr/>
        </p:nvSpPr>
        <p:spPr>
          <a:xfrm>
            <a:off x="5462588" y="3125837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39" name="Shape 37"/>
          <p:cNvSpPr/>
          <p:nvPr/>
        </p:nvSpPr>
        <p:spPr>
          <a:xfrm>
            <a:off x="7153275" y="3125837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0040" name="Text 38"/>
          <p:cNvSpPr/>
          <p:nvPr/>
        </p:nvSpPr>
        <p:spPr>
          <a:xfrm>
            <a:off x="2076450" y="3240137"/>
            <a:ext cx="1690688" cy="152400"/>
          </a:xfrm>
          <a:prstGeom prst="roundRect">
            <a:avLst>
              <a:gd name="adj" fmla="val 125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1" name="Text 39"/>
          <p:cNvSpPr/>
          <p:nvPr/>
        </p:nvSpPr>
        <p:spPr>
          <a:xfrm>
            <a:off x="3767138" y="3240137"/>
            <a:ext cx="3381375" cy="152400"/>
          </a:xfrm>
          <a:prstGeom prst="roundRect">
            <a:avLst>
              <a:gd name="adj" fmla="val 125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2" name="Text 40"/>
          <p:cNvSpPr/>
          <p:nvPr/>
        </p:nvSpPr>
        <p:spPr>
          <a:xfrm>
            <a:off x="7148513" y="3240137"/>
            <a:ext cx="1690688" cy="152400"/>
          </a:xfrm>
          <a:prstGeom prst="roundRect">
            <a:avLst>
              <a:gd name="adj" fmla="val 125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3" name="Text 41"/>
          <p:cNvSpPr/>
          <p:nvPr/>
        </p:nvSpPr>
        <p:spPr>
          <a:xfrm>
            <a:off x="304800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4" name="Text 42"/>
          <p:cNvSpPr/>
          <p:nvPr/>
        </p:nvSpPr>
        <p:spPr>
          <a:xfrm>
            <a:off x="514350" y="4794945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75" dirty="0"/>
          </a:p>
        </p:txBody>
      </p:sp>
      <p:sp>
        <p:nvSpPr>
          <p:cNvPr id="10045" name="Text 43"/>
          <p:cNvSpPr/>
          <p:nvPr/>
        </p:nvSpPr>
        <p:spPr>
          <a:xfrm>
            <a:off x="1157585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6" name="Text 44"/>
          <p:cNvSpPr/>
          <p:nvPr/>
        </p:nvSpPr>
        <p:spPr>
          <a:xfrm>
            <a:off x="1367135" y="4794945"/>
            <a:ext cx="447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675" dirty="0"/>
          </a:p>
        </p:txBody>
      </p:sp>
      <p:sp>
        <p:nvSpPr>
          <p:cNvPr id="10047" name="Text 45"/>
          <p:cNvSpPr/>
          <p:nvPr/>
        </p:nvSpPr>
        <p:spPr>
          <a:xfrm>
            <a:off x="2034183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48" name="Text 46"/>
          <p:cNvSpPr/>
          <p:nvPr/>
        </p:nvSpPr>
        <p:spPr>
          <a:xfrm>
            <a:off x="2243733" y="4794945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6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2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2" name="Text 0"/>
          <p:cNvSpPr/>
          <p:nvPr/>
        </p:nvSpPr>
        <p:spPr>
          <a:xfrm>
            <a:off x="304800" y="266700"/>
            <a:ext cx="4478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Roadmap</a:t>
            </a:r>
            <a:endParaRPr lang="en-US" sz="1575" dirty="0"/>
          </a:p>
        </p:txBody>
      </p:sp>
      <p:sp>
        <p:nvSpPr>
          <p:cNvPr id="20003" name="Text 1"/>
          <p:cNvSpPr/>
          <p:nvPr/>
        </p:nvSpPr>
        <p:spPr>
          <a:xfrm>
            <a:off x="1815998" y="733425"/>
            <a:ext cx="1305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50" dirty="0"/>
          </a:p>
        </p:txBody>
      </p:sp>
      <p:sp>
        <p:nvSpPr>
          <p:cNvPr id="20004" name="Text 2"/>
          <p:cNvSpPr/>
          <p:nvPr/>
        </p:nvSpPr>
        <p:spPr>
          <a:xfrm>
            <a:off x="3248617" y="733425"/>
            <a:ext cx="1305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50" dirty="0"/>
          </a:p>
        </p:txBody>
      </p:sp>
      <p:sp>
        <p:nvSpPr>
          <p:cNvPr id="20005" name="Text 3"/>
          <p:cNvSpPr/>
          <p:nvPr/>
        </p:nvSpPr>
        <p:spPr>
          <a:xfrm>
            <a:off x="4681237" y="733425"/>
            <a:ext cx="1305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750" dirty="0"/>
          </a:p>
        </p:txBody>
      </p:sp>
      <p:sp>
        <p:nvSpPr>
          <p:cNvPr id="20006" name="Text 4"/>
          <p:cNvSpPr/>
          <p:nvPr/>
        </p:nvSpPr>
        <p:spPr>
          <a:xfrm>
            <a:off x="6113856" y="733425"/>
            <a:ext cx="1305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50" dirty="0"/>
          </a:p>
        </p:txBody>
      </p:sp>
      <p:sp>
        <p:nvSpPr>
          <p:cNvPr id="20007" name="Text 5"/>
          <p:cNvSpPr/>
          <p:nvPr/>
        </p:nvSpPr>
        <p:spPr>
          <a:xfrm>
            <a:off x="7546476" y="733425"/>
            <a:ext cx="1305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50" dirty="0"/>
          </a:p>
        </p:txBody>
      </p:sp>
      <p:sp>
        <p:nvSpPr>
          <p:cNvPr id="20008" name="Text 6"/>
          <p:cNvSpPr/>
          <p:nvPr/>
        </p:nvSpPr>
        <p:spPr>
          <a:xfrm>
            <a:off x="304800" y="1076325"/>
            <a:ext cx="1428750" cy="196155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09" name="Shape 7"/>
          <p:cNvSpPr/>
          <p:nvPr/>
        </p:nvSpPr>
        <p:spPr>
          <a:xfrm>
            <a:off x="314325" y="1076325"/>
            <a:ext cx="0" cy="196155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20010" name="Text 8"/>
          <p:cNvSpPr/>
          <p:nvPr/>
        </p:nvSpPr>
        <p:spPr>
          <a:xfrm>
            <a:off x="400050" y="1114425"/>
            <a:ext cx="12824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1]</a:t>
            </a:r>
            <a:endParaRPr lang="en-US" sz="675" dirty="0"/>
          </a:p>
        </p:txBody>
      </p:sp>
      <p:sp>
        <p:nvSpPr>
          <p:cNvPr id="20011" name="Shape 9"/>
          <p:cNvSpPr/>
          <p:nvPr/>
        </p:nvSpPr>
        <p:spPr>
          <a:xfrm>
            <a:off x="3281363" y="1098203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12" name="Shape 10"/>
          <p:cNvSpPr/>
          <p:nvPr/>
        </p:nvSpPr>
        <p:spPr>
          <a:xfrm>
            <a:off x="4672013" y="1098203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13" name="Shape 11"/>
          <p:cNvSpPr/>
          <p:nvPr/>
        </p:nvSpPr>
        <p:spPr>
          <a:xfrm>
            <a:off x="6062663" y="1098203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14" name="Shape 12"/>
          <p:cNvSpPr/>
          <p:nvPr/>
        </p:nvSpPr>
        <p:spPr>
          <a:xfrm>
            <a:off x="7453313" y="1098203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15" name="Shape 13"/>
          <p:cNvSpPr/>
          <p:nvPr/>
        </p:nvSpPr>
        <p:spPr>
          <a:xfrm>
            <a:off x="4676775" y="1069628"/>
            <a:ext cx="0" cy="209550"/>
          </a:xfrm>
          <a:prstGeom prst="line">
            <a:avLst/>
          </a:prstGeom>
          <a:noFill/>
          <a:ln w="19050">
            <a:solidFill>
              <a:srgbClr val="DB4545"/>
            </a:solidFill>
            <a:prstDash val="solid"/>
          </a:ln>
        </p:spPr>
      </p:sp>
      <p:sp>
        <p:nvSpPr>
          <p:cNvPr id="20016" name="Text 14"/>
          <p:cNvSpPr/>
          <p:nvPr/>
        </p:nvSpPr>
        <p:spPr>
          <a:xfrm>
            <a:off x="400050" y="1462980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1]</a:t>
            </a:r>
            <a:endParaRPr lang="en-US" sz="600" dirty="0"/>
          </a:p>
        </p:txBody>
      </p:sp>
      <p:sp>
        <p:nvSpPr>
          <p:cNvPr id="20017" name="Text 15"/>
          <p:cNvSpPr/>
          <p:nvPr/>
        </p:nvSpPr>
        <p:spPr>
          <a:xfrm>
            <a:off x="1885950" y="1468636"/>
            <a:ext cx="3476625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18" name="Text 16"/>
          <p:cNvSpPr/>
          <p:nvPr/>
        </p:nvSpPr>
        <p:spPr>
          <a:xfrm>
            <a:off x="400050" y="1750516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2]</a:t>
            </a:r>
            <a:endParaRPr lang="en-US" sz="600" dirty="0"/>
          </a:p>
        </p:txBody>
      </p:sp>
      <p:sp>
        <p:nvSpPr>
          <p:cNvPr id="20019" name="Text 17"/>
          <p:cNvSpPr/>
          <p:nvPr/>
        </p:nvSpPr>
        <p:spPr>
          <a:xfrm>
            <a:off x="3276600" y="1756172"/>
            <a:ext cx="5562600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20" name="Text 18"/>
          <p:cNvSpPr/>
          <p:nvPr/>
        </p:nvSpPr>
        <p:spPr>
          <a:xfrm>
            <a:off x="304800" y="2085677"/>
            <a:ext cx="1428750" cy="196155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21" name="Shape 19"/>
          <p:cNvSpPr/>
          <p:nvPr/>
        </p:nvSpPr>
        <p:spPr>
          <a:xfrm>
            <a:off x="314325" y="2085677"/>
            <a:ext cx="0" cy="196155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20022" name="Text 20"/>
          <p:cNvSpPr/>
          <p:nvPr/>
        </p:nvSpPr>
        <p:spPr>
          <a:xfrm>
            <a:off x="400050" y="2123777"/>
            <a:ext cx="12824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2]</a:t>
            </a:r>
            <a:endParaRPr lang="en-US" sz="675" dirty="0"/>
          </a:p>
        </p:txBody>
      </p:sp>
      <p:sp>
        <p:nvSpPr>
          <p:cNvPr id="20023" name="Shape 21"/>
          <p:cNvSpPr/>
          <p:nvPr/>
        </p:nvSpPr>
        <p:spPr>
          <a:xfrm>
            <a:off x="3281363" y="2107555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24" name="Shape 22"/>
          <p:cNvSpPr/>
          <p:nvPr/>
        </p:nvSpPr>
        <p:spPr>
          <a:xfrm>
            <a:off x="4672013" y="2107555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25" name="Shape 23"/>
          <p:cNvSpPr/>
          <p:nvPr/>
        </p:nvSpPr>
        <p:spPr>
          <a:xfrm>
            <a:off x="6062663" y="2107555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26" name="Shape 24"/>
          <p:cNvSpPr/>
          <p:nvPr/>
        </p:nvSpPr>
        <p:spPr>
          <a:xfrm>
            <a:off x="7453313" y="2107555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27" name="Shape 25"/>
          <p:cNvSpPr/>
          <p:nvPr/>
        </p:nvSpPr>
        <p:spPr>
          <a:xfrm>
            <a:off x="4676775" y="2078980"/>
            <a:ext cx="0" cy="209550"/>
          </a:xfrm>
          <a:prstGeom prst="line">
            <a:avLst/>
          </a:prstGeom>
          <a:noFill/>
          <a:ln w="19050">
            <a:solidFill>
              <a:srgbClr val="DB4545"/>
            </a:solidFill>
            <a:prstDash val="solid"/>
          </a:ln>
        </p:spPr>
      </p:sp>
      <p:sp>
        <p:nvSpPr>
          <p:cNvPr id="20028" name="Text 26"/>
          <p:cNvSpPr/>
          <p:nvPr/>
        </p:nvSpPr>
        <p:spPr>
          <a:xfrm>
            <a:off x="400050" y="2472333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1]</a:t>
            </a:r>
            <a:endParaRPr lang="en-US" sz="600" dirty="0"/>
          </a:p>
        </p:txBody>
      </p:sp>
      <p:sp>
        <p:nvSpPr>
          <p:cNvPr id="20029" name="Text 27"/>
          <p:cNvSpPr/>
          <p:nvPr/>
        </p:nvSpPr>
        <p:spPr>
          <a:xfrm>
            <a:off x="3276600" y="2477988"/>
            <a:ext cx="2781300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30" name="Text 28"/>
          <p:cNvSpPr/>
          <p:nvPr/>
        </p:nvSpPr>
        <p:spPr>
          <a:xfrm>
            <a:off x="304800" y="2807494"/>
            <a:ext cx="1428750" cy="196155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31" name="Shape 29"/>
          <p:cNvSpPr/>
          <p:nvPr/>
        </p:nvSpPr>
        <p:spPr>
          <a:xfrm>
            <a:off x="314325" y="2807494"/>
            <a:ext cx="0" cy="196155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20032" name="Text 30"/>
          <p:cNvSpPr/>
          <p:nvPr/>
        </p:nvSpPr>
        <p:spPr>
          <a:xfrm>
            <a:off x="400050" y="2845594"/>
            <a:ext cx="12824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3]</a:t>
            </a:r>
            <a:endParaRPr lang="en-US" sz="675" dirty="0"/>
          </a:p>
        </p:txBody>
      </p:sp>
      <p:sp>
        <p:nvSpPr>
          <p:cNvPr id="20033" name="Shape 31"/>
          <p:cNvSpPr/>
          <p:nvPr/>
        </p:nvSpPr>
        <p:spPr>
          <a:xfrm>
            <a:off x="3281363" y="2829371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34" name="Shape 32"/>
          <p:cNvSpPr/>
          <p:nvPr/>
        </p:nvSpPr>
        <p:spPr>
          <a:xfrm>
            <a:off x="4672013" y="2829371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35" name="Shape 33"/>
          <p:cNvSpPr/>
          <p:nvPr/>
        </p:nvSpPr>
        <p:spPr>
          <a:xfrm>
            <a:off x="6062663" y="2829371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36" name="Shape 34"/>
          <p:cNvSpPr/>
          <p:nvPr/>
        </p:nvSpPr>
        <p:spPr>
          <a:xfrm>
            <a:off x="7453313" y="2829371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37" name="Shape 35"/>
          <p:cNvSpPr/>
          <p:nvPr/>
        </p:nvSpPr>
        <p:spPr>
          <a:xfrm>
            <a:off x="4676775" y="2800796"/>
            <a:ext cx="0" cy="209550"/>
          </a:xfrm>
          <a:prstGeom prst="line">
            <a:avLst/>
          </a:prstGeom>
          <a:noFill/>
          <a:ln w="19050">
            <a:solidFill>
              <a:srgbClr val="DB4545"/>
            </a:solidFill>
            <a:prstDash val="solid"/>
          </a:ln>
        </p:spPr>
      </p:sp>
      <p:sp>
        <p:nvSpPr>
          <p:cNvPr id="20038" name="Text 36"/>
          <p:cNvSpPr/>
          <p:nvPr/>
        </p:nvSpPr>
        <p:spPr>
          <a:xfrm>
            <a:off x="400050" y="3194149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1]</a:t>
            </a:r>
            <a:endParaRPr lang="en-US" sz="600" dirty="0"/>
          </a:p>
        </p:txBody>
      </p:sp>
      <p:sp>
        <p:nvSpPr>
          <p:cNvPr id="20039" name="Text 37"/>
          <p:cNvSpPr/>
          <p:nvPr/>
        </p:nvSpPr>
        <p:spPr>
          <a:xfrm>
            <a:off x="4667250" y="3199805"/>
            <a:ext cx="2781300" cy="76200"/>
          </a:xfrm>
          <a:prstGeom prst="roundRect">
            <a:avLst>
              <a:gd name="adj" fmla="val 25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40" name="Text 38"/>
          <p:cNvSpPr/>
          <p:nvPr/>
        </p:nvSpPr>
        <p:spPr>
          <a:xfrm>
            <a:off x="304800" y="3529310"/>
            <a:ext cx="1428750" cy="196155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41" name="Shape 39"/>
          <p:cNvSpPr/>
          <p:nvPr/>
        </p:nvSpPr>
        <p:spPr>
          <a:xfrm>
            <a:off x="314325" y="3529310"/>
            <a:ext cx="0" cy="196155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20042" name="Text 40"/>
          <p:cNvSpPr/>
          <p:nvPr/>
        </p:nvSpPr>
        <p:spPr>
          <a:xfrm>
            <a:off x="400050" y="3567410"/>
            <a:ext cx="12824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4]</a:t>
            </a:r>
            <a:endParaRPr lang="en-US" sz="675" dirty="0"/>
          </a:p>
        </p:txBody>
      </p:sp>
      <p:sp>
        <p:nvSpPr>
          <p:cNvPr id="20043" name="Shape 41"/>
          <p:cNvSpPr/>
          <p:nvPr/>
        </p:nvSpPr>
        <p:spPr>
          <a:xfrm>
            <a:off x="3281363" y="3551188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44" name="Shape 42"/>
          <p:cNvSpPr/>
          <p:nvPr/>
        </p:nvSpPr>
        <p:spPr>
          <a:xfrm>
            <a:off x="4672013" y="3551188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45" name="Shape 43"/>
          <p:cNvSpPr/>
          <p:nvPr/>
        </p:nvSpPr>
        <p:spPr>
          <a:xfrm>
            <a:off x="6062663" y="3551188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46" name="Shape 44"/>
          <p:cNvSpPr/>
          <p:nvPr/>
        </p:nvSpPr>
        <p:spPr>
          <a:xfrm>
            <a:off x="7453313" y="3551188"/>
            <a:ext cx="0" cy="1524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047" name="Shape 45"/>
          <p:cNvSpPr/>
          <p:nvPr/>
        </p:nvSpPr>
        <p:spPr>
          <a:xfrm>
            <a:off x="4676775" y="3522613"/>
            <a:ext cx="0" cy="209550"/>
          </a:xfrm>
          <a:prstGeom prst="line">
            <a:avLst/>
          </a:prstGeom>
          <a:noFill/>
          <a:ln w="19050">
            <a:solidFill>
              <a:srgbClr val="DB4545"/>
            </a:solidFill>
            <a:prstDash val="solid"/>
          </a:ln>
        </p:spPr>
      </p:sp>
      <p:sp>
        <p:nvSpPr>
          <p:cNvPr id="20048" name="Text 46"/>
          <p:cNvSpPr/>
          <p:nvPr/>
        </p:nvSpPr>
        <p:spPr>
          <a:xfrm>
            <a:off x="400050" y="3915966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1]</a:t>
            </a:r>
            <a:endParaRPr lang="en-US" sz="600" dirty="0"/>
          </a:p>
        </p:txBody>
      </p:sp>
      <p:sp>
        <p:nvSpPr>
          <p:cNvPr id="20049" name="Text 47"/>
          <p:cNvSpPr/>
          <p:nvPr/>
        </p:nvSpPr>
        <p:spPr>
          <a:xfrm>
            <a:off x="1885950" y="3921621"/>
            <a:ext cx="2781300" cy="76200"/>
          </a:xfrm>
          <a:prstGeom prst="roundRect">
            <a:avLst>
              <a:gd name="adj" fmla="val 25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0" name="Text 48"/>
          <p:cNvSpPr/>
          <p:nvPr/>
        </p:nvSpPr>
        <p:spPr>
          <a:xfrm>
            <a:off x="4667250" y="3921621"/>
            <a:ext cx="4171950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1" name="Text 49"/>
          <p:cNvSpPr/>
          <p:nvPr/>
        </p:nvSpPr>
        <p:spPr>
          <a:xfrm>
            <a:off x="400050" y="4203502"/>
            <a:ext cx="1360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2]</a:t>
            </a:r>
            <a:endParaRPr lang="en-US" sz="600" dirty="0"/>
          </a:p>
        </p:txBody>
      </p:sp>
      <p:sp>
        <p:nvSpPr>
          <p:cNvPr id="20052" name="Text 50"/>
          <p:cNvSpPr/>
          <p:nvPr/>
        </p:nvSpPr>
        <p:spPr>
          <a:xfrm>
            <a:off x="3276600" y="4209157"/>
            <a:ext cx="1390650" cy="76200"/>
          </a:xfrm>
          <a:prstGeom prst="roundRect">
            <a:avLst>
              <a:gd name="adj" fmla="val 25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3" name="Text 51"/>
          <p:cNvSpPr/>
          <p:nvPr/>
        </p:nvSpPr>
        <p:spPr>
          <a:xfrm>
            <a:off x="4667250" y="4209157"/>
            <a:ext cx="4171950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4" name="Text 52"/>
          <p:cNvSpPr/>
          <p:nvPr/>
        </p:nvSpPr>
        <p:spPr>
          <a:xfrm>
            <a:off x="304800" y="4785420"/>
            <a:ext cx="133350" cy="76200"/>
          </a:xfrm>
          <a:prstGeom prst="roundRect">
            <a:avLst>
              <a:gd name="adj" fmla="val 25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5" name="Text 53"/>
          <p:cNvSpPr/>
          <p:nvPr/>
        </p:nvSpPr>
        <p:spPr>
          <a:xfrm>
            <a:off x="476250" y="4770239"/>
            <a:ext cx="3758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00" dirty="0"/>
          </a:p>
        </p:txBody>
      </p:sp>
      <p:sp>
        <p:nvSpPr>
          <p:cNvPr id="20056" name="Text 54"/>
          <p:cNvSpPr/>
          <p:nvPr/>
        </p:nvSpPr>
        <p:spPr>
          <a:xfrm>
            <a:off x="1035248" y="4785420"/>
            <a:ext cx="133350" cy="76200"/>
          </a:xfrm>
          <a:prstGeom prst="roundRect">
            <a:avLst>
              <a:gd name="adj" fmla="val 25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7" name="Text 55"/>
          <p:cNvSpPr/>
          <p:nvPr/>
        </p:nvSpPr>
        <p:spPr>
          <a:xfrm>
            <a:off x="1206698" y="4770239"/>
            <a:ext cx="39742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600" dirty="0"/>
          </a:p>
        </p:txBody>
      </p:sp>
      <p:sp>
        <p:nvSpPr>
          <p:cNvPr id="20058" name="Text 56"/>
          <p:cNvSpPr/>
          <p:nvPr/>
        </p:nvSpPr>
        <p:spPr>
          <a:xfrm>
            <a:off x="1786830" y="4785420"/>
            <a:ext cx="133350" cy="76200"/>
          </a:xfrm>
          <a:prstGeom prst="roundRect">
            <a:avLst>
              <a:gd name="adj" fmla="val 25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59" name="Text 57"/>
          <p:cNvSpPr/>
          <p:nvPr/>
        </p:nvSpPr>
        <p:spPr>
          <a:xfrm>
            <a:off x="1958280" y="4770239"/>
            <a:ext cx="349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3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2" name="Text 0"/>
          <p:cNvSpPr/>
          <p:nvPr/>
        </p:nvSpPr>
        <p:spPr>
          <a:xfrm>
            <a:off x="304800" y="323850"/>
            <a:ext cx="95910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600" dirty="0"/>
          </a:p>
        </p:txBody>
      </p:sp>
      <p:sp>
        <p:nvSpPr>
          <p:cNvPr id="30003" name="Text 1"/>
          <p:cNvSpPr/>
          <p:nvPr/>
        </p:nvSpPr>
        <p:spPr>
          <a:xfrm>
            <a:off x="1511796" y="228600"/>
            <a:ext cx="929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75" dirty="0"/>
          </a:p>
        </p:txBody>
      </p:sp>
      <p:sp>
        <p:nvSpPr>
          <p:cNvPr id="30004" name="Text 2"/>
          <p:cNvSpPr/>
          <p:nvPr/>
        </p:nvSpPr>
        <p:spPr>
          <a:xfrm>
            <a:off x="2188718" y="735211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825" dirty="0"/>
          </a:p>
        </p:txBody>
      </p:sp>
      <p:sp>
        <p:nvSpPr>
          <p:cNvPr id="30005" name="Text 3"/>
          <p:cNvSpPr/>
          <p:nvPr/>
        </p:nvSpPr>
        <p:spPr>
          <a:xfrm>
            <a:off x="4449269" y="735211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25" dirty="0"/>
          </a:p>
        </p:txBody>
      </p:sp>
      <p:sp>
        <p:nvSpPr>
          <p:cNvPr id="30006" name="Text 4"/>
          <p:cNvSpPr/>
          <p:nvPr/>
        </p:nvSpPr>
        <p:spPr>
          <a:xfrm>
            <a:off x="6709819" y="735211"/>
            <a:ext cx="2150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25" dirty="0"/>
          </a:p>
        </p:txBody>
      </p:sp>
      <p:sp>
        <p:nvSpPr>
          <p:cNvPr id="30007" name="Text 5"/>
          <p:cNvSpPr/>
          <p:nvPr/>
        </p:nvSpPr>
        <p:spPr>
          <a:xfrm>
            <a:off x="304800" y="1110407"/>
            <a:ext cx="1714500" cy="438001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08" name="Shape 6"/>
          <p:cNvSpPr/>
          <p:nvPr/>
        </p:nvSpPr>
        <p:spPr>
          <a:xfrm>
            <a:off x="319088" y="1110407"/>
            <a:ext cx="0" cy="438001"/>
          </a:xfrm>
          <a:prstGeom prst="line">
            <a:avLst/>
          </a:prstGeom>
          <a:noFill/>
          <a:ln w="28575">
            <a:solidFill>
              <a:srgbClr val="DB4545"/>
            </a:solidFill>
            <a:prstDash val="solid"/>
          </a:ln>
        </p:spPr>
      </p:sp>
      <p:sp>
        <p:nvSpPr>
          <p:cNvPr id="30009" name="Text 7"/>
          <p:cNvSpPr/>
          <p:nvPr/>
        </p:nvSpPr>
        <p:spPr>
          <a:xfrm>
            <a:off x="447675" y="1186607"/>
            <a:ext cx="1486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30010" name="Text 8"/>
          <p:cNvSpPr/>
          <p:nvPr/>
        </p:nvSpPr>
        <p:spPr>
          <a:xfrm>
            <a:off x="447675" y="1352252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name]</a:t>
            </a:r>
            <a:endParaRPr lang="en-US" sz="675" dirty="0"/>
          </a:p>
        </p:txBody>
      </p:sp>
      <p:sp>
        <p:nvSpPr>
          <p:cNvPr id="30011" name="Shape 9"/>
          <p:cNvSpPr/>
          <p:nvPr/>
        </p:nvSpPr>
        <p:spPr>
          <a:xfrm>
            <a:off x="4462165" y="1110407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12" name="Shape 10"/>
          <p:cNvSpPr/>
          <p:nvPr/>
        </p:nvSpPr>
        <p:spPr>
          <a:xfrm>
            <a:off x="6652766" y="1110407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13" name="Text 11"/>
          <p:cNvSpPr/>
          <p:nvPr/>
        </p:nvSpPr>
        <p:spPr>
          <a:xfrm>
            <a:off x="457200" y="1605558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1]</a:t>
            </a:r>
            <a:endParaRPr lang="en-US" sz="675" dirty="0"/>
          </a:p>
        </p:txBody>
      </p:sp>
      <p:sp>
        <p:nvSpPr>
          <p:cNvPr id="30014" name="Shape 12"/>
          <p:cNvSpPr/>
          <p:nvPr/>
        </p:nvSpPr>
        <p:spPr>
          <a:xfrm>
            <a:off x="4462165" y="160838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15" name="Shape 13"/>
          <p:cNvSpPr/>
          <p:nvPr/>
        </p:nvSpPr>
        <p:spPr>
          <a:xfrm>
            <a:off x="6652766" y="160838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16" name="Text 14"/>
          <p:cNvSpPr/>
          <p:nvPr/>
        </p:nvSpPr>
        <p:spPr>
          <a:xfrm>
            <a:off x="2266950" y="1608386"/>
            <a:ext cx="1643063" cy="95250"/>
          </a:xfrm>
          <a:prstGeom prst="roundRect">
            <a:avLst>
              <a:gd name="adj" fmla="val 20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17" name="Text 15"/>
          <p:cNvSpPr/>
          <p:nvPr/>
        </p:nvSpPr>
        <p:spPr>
          <a:xfrm>
            <a:off x="457200" y="1754088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2]</a:t>
            </a:r>
            <a:endParaRPr lang="en-US" sz="675" dirty="0"/>
          </a:p>
        </p:txBody>
      </p:sp>
      <p:sp>
        <p:nvSpPr>
          <p:cNvPr id="30018" name="Shape 16"/>
          <p:cNvSpPr/>
          <p:nvPr/>
        </p:nvSpPr>
        <p:spPr>
          <a:xfrm>
            <a:off x="4462165" y="175691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19" name="Shape 17"/>
          <p:cNvSpPr/>
          <p:nvPr/>
        </p:nvSpPr>
        <p:spPr>
          <a:xfrm>
            <a:off x="6652766" y="175691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20" name="Text 18"/>
          <p:cNvSpPr/>
          <p:nvPr/>
        </p:nvSpPr>
        <p:spPr>
          <a:xfrm>
            <a:off x="2924175" y="1756916"/>
            <a:ext cx="1971675" cy="95250"/>
          </a:xfrm>
          <a:prstGeom prst="roundRect">
            <a:avLst>
              <a:gd name="adj" fmla="val 2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21" name="Text 19"/>
          <p:cNvSpPr/>
          <p:nvPr/>
        </p:nvSpPr>
        <p:spPr>
          <a:xfrm>
            <a:off x="457200" y="1902619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3]</a:t>
            </a:r>
            <a:endParaRPr lang="en-US" sz="675" dirty="0"/>
          </a:p>
        </p:txBody>
      </p:sp>
      <p:sp>
        <p:nvSpPr>
          <p:cNvPr id="30022" name="Shape 20"/>
          <p:cNvSpPr/>
          <p:nvPr/>
        </p:nvSpPr>
        <p:spPr>
          <a:xfrm>
            <a:off x="4462165" y="190544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23" name="Shape 21"/>
          <p:cNvSpPr/>
          <p:nvPr/>
        </p:nvSpPr>
        <p:spPr>
          <a:xfrm>
            <a:off x="6652766" y="1905446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24" name="Text 22"/>
          <p:cNvSpPr/>
          <p:nvPr/>
        </p:nvSpPr>
        <p:spPr>
          <a:xfrm>
            <a:off x="3910013" y="1905446"/>
            <a:ext cx="985838" cy="95250"/>
          </a:xfrm>
          <a:prstGeom prst="roundRect">
            <a:avLst>
              <a:gd name="adj" fmla="val 2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25" name="Text 23"/>
          <p:cNvSpPr/>
          <p:nvPr/>
        </p:nvSpPr>
        <p:spPr>
          <a:xfrm>
            <a:off x="304800" y="2355949"/>
            <a:ext cx="1714500" cy="438001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26" name="Shape 24"/>
          <p:cNvSpPr/>
          <p:nvPr/>
        </p:nvSpPr>
        <p:spPr>
          <a:xfrm>
            <a:off x="319088" y="2355949"/>
            <a:ext cx="0" cy="438001"/>
          </a:xfrm>
          <a:prstGeom prst="line">
            <a:avLst/>
          </a:prstGeom>
          <a:noFill/>
          <a:ln w="28575">
            <a:solidFill>
              <a:srgbClr val="08749B"/>
            </a:solidFill>
            <a:prstDash val="solid"/>
          </a:ln>
        </p:spPr>
      </p:sp>
      <p:sp>
        <p:nvSpPr>
          <p:cNvPr id="30027" name="Text 25"/>
          <p:cNvSpPr/>
          <p:nvPr/>
        </p:nvSpPr>
        <p:spPr>
          <a:xfrm>
            <a:off x="447675" y="2432149"/>
            <a:ext cx="1486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30028" name="Text 26"/>
          <p:cNvSpPr/>
          <p:nvPr/>
        </p:nvSpPr>
        <p:spPr>
          <a:xfrm>
            <a:off x="447675" y="2597795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name]</a:t>
            </a:r>
            <a:endParaRPr lang="en-US" sz="675" dirty="0"/>
          </a:p>
        </p:txBody>
      </p:sp>
      <p:sp>
        <p:nvSpPr>
          <p:cNvPr id="30029" name="Shape 27"/>
          <p:cNvSpPr/>
          <p:nvPr/>
        </p:nvSpPr>
        <p:spPr>
          <a:xfrm>
            <a:off x="4462165" y="2355949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0" name="Shape 28"/>
          <p:cNvSpPr/>
          <p:nvPr/>
        </p:nvSpPr>
        <p:spPr>
          <a:xfrm>
            <a:off x="6652766" y="2355949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1" name="Text 29"/>
          <p:cNvSpPr/>
          <p:nvPr/>
        </p:nvSpPr>
        <p:spPr>
          <a:xfrm>
            <a:off x="457200" y="2851100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1]</a:t>
            </a:r>
            <a:endParaRPr lang="en-US" sz="675" dirty="0"/>
          </a:p>
        </p:txBody>
      </p:sp>
      <p:sp>
        <p:nvSpPr>
          <p:cNvPr id="30032" name="Shape 30"/>
          <p:cNvSpPr/>
          <p:nvPr/>
        </p:nvSpPr>
        <p:spPr>
          <a:xfrm>
            <a:off x="4462165" y="2853928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3" name="Shape 31"/>
          <p:cNvSpPr/>
          <p:nvPr/>
        </p:nvSpPr>
        <p:spPr>
          <a:xfrm>
            <a:off x="6652766" y="2853928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4" name="Text 32"/>
          <p:cNvSpPr/>
          <p:nvPr/>
        </p:nvSpPr>
        <p:spPr>
          <a:xfrm>
            <a:off x="4457402" y="2853928"/>
            <a:ext cx="2190452" cy="95250"/>
          </a:xfrm>
          <a:prstGeom prst="roundRect">
            <a:avLst>
              <a:gd name="adj" fmla="val 2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35" name="Text 33"/>
          <p:cNvSpPr/>
          <p:nvPr/>
        </p:nvSpPr>
        <p:spPr>
          <a:xfrm>
            <a:off x="457200" y="2999631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2]</a:t>
            </a:r>
            <a:endParaRPr lang="en-US" sz="675" dirty="0"/>
          </a:p>
        </p:txBody>
      </p:sp>
      <p:sp>
        <p:nvSpPr>
          <p:cNvPr id="30036" name="Shape 34"/>
          <p:cNvSpPr/>
          <p:nvPr/>
        </p:nvSpPr>
        <p:spPr>
          <a:xfrm>
            <a:off x="4462165" y="3002459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7" name="Shape 35"/>
          <p:cNvSpPr/>
          <p:nvPr/>
        </p:nvSpPr>
        <p:spPr>
          <a:xfrm>
            <a:off x="6652766" y="3002459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38" name="Text 36"/>
          <p:cNvSpPr/>
          <p:nvPr/>
        </p:nvSpPr>
        <p:spPr>
          <a:xfrm>
            <a:off x="4895850" y="3002459"/>
            <a:ext cx="1643063" cy="95250"/>
          </a:xfrm>
          <a:prstGeom prst="roundRect">
            <a:avLst>
              <a:gd name="adj" fmla="val 20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39" name="Text 37"/>
          <p:cNvSpPr/>
          <p:nvPr/>
        </p:nvSpPr>
        <p:spPr>
          <a:xfrm>
            <a:off x="304800" y="3452961"/>
            <a:ext cx="1714500" cy="438001"/>
          </a:xfrm>
          <a:prstGeom prst="rect">
            <a:avLst/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40" name="Shape 38"/>
          <p:cNvSpPr/>
          <p:nvPr/>
        </p:nvSpPr>
        <p:spPr>
          <a:xfrm>
            <a:off x="319088" y="3452961"/>
            <a:ext cx="0" cy="438001"/>
          </a:xfrm>
          <a:prstGeom prst="line">
            <a:avLst/>
          </a:prstGeom>
          <a:noFill/>
          <a:ln w="28575">
            <a:solidFill>
              <a:srgbClr val="034377"/>
            </a:solidFill>
            <a:prstDash val="solid"/>
          </a:ln>
        </p:spPr>
      </p:sp>
      <p:sp>
        <p:nvSpPr>
          <p:cNvPr id="30041" name="Text 39"/>
          <p:cNvSpPr/>
          <p:nvPr/>
        </p:nvSpPr>
        <p:spPr>
          <a:xfrm>
            <a:off x="447675" y="3529161"/>
            <a:ext cx="1486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25" dirty="0"/>
          </a:p>
        </p:txBody>
      </p:sp>
      <p:sp>
        <p:nvSpPr>
          <p:cNvPr id="30042" name="Text 40"/>
          <p:cNvSpPr/>
          <p:nvPr/>
        </p:nvSpPr>
        <p:spPr>
          <a:xfrm>
            <a:off x="447675" y="3694807"/>
            <a:ext cx="1486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name]</a:t>
            </a:r>
            <a:endParaRPr lang="en-US" sz="675" dirty="0"/>
          </a:p>
        </p:txBody>
      </p:sp>
      <p:sp>
        <p:nvSpPr>
          <p:cNvPr id="30043" name="Shape 41"/>
          <p:cNvSpPr/>
          <p:nvPr/>
        </p:nvSpPr>
        <p:spPr>
          <a:xfrm>
            <a:off x="4462165" y="3452961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44" name="Shape 42"/>
          <p:cNvSpPr/>
          <p:nvPr/>
        </p:nvSpPr>
        <p:spPr>
          <a:xfrm>
            <a:off x="6652766" y="3452961"/>
            <a:ext cx="0" cy="3810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45" name="Text 43"/>
          <p:cNvSpPr/>
          <p:nvPr/>
        </p:nvSpPr>
        <p:spPr>
          <a:xfrm>
            <a:off x="457200" y="3948112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1]</a:t>
            </a:r>
            <a:endParaRPr lang="en-US" sz="675" dirty="0"/>
          </a:p>
        </p:txBody>
      </p:sp>
      <p:sp>
        <p:nvSpPr>
          <p:cNvPr id="30046" name="Shape 44"/>
          <p:cNvSpPr/>
          <p:nvPr/>
        </p:nvSpPr>
        <p:spPr>
          <a:xfrm>
            <a:off x="4462165" y="3950940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47" name="Shape 45"/>
          <p:cNvSpPr/>
          <p:nvPr/>
        </p:nvSpPr>
        <p:spPr>
          <a:xfrm>
            <a:off x="6652766" y="3950940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48" name="Text 46"/>
          <p:cNvSpPr/>
          <p:nvPr/>
        </p:nvSpPr>
        <p:spPr>
          <a:xfrm>
            <a:off x="6648004" y="3950940"/>
            <a:ext cx="2190452" cy="95250"/>
          </a:xfrm>
          <a:prstGeom prst="roundRect">
            <a:avLst>
              <a:gd name="adj" fmla="val 20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49" name="Text 47"/>
          <p:cNvSpPr/>
          <p:nvPr/>
        </p:nvSpPr>
        <p:spPr>
          <a:xfrm>
            <a:off x="457200" y="4096643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2]</a:t>
            </a:r>
            <a:endParaRPr lang="en-US" sz="675" dirty="0"/>
          </a:p>
        </p:txBody>
      </p:sp>
      <p:sp>
        <p:nvSpPr>
          <p:cNvPr id="30050" name="Shape 48"/>
          <p:cNvSpPr/>
          <p:nvPr/>
        </p:nvSpPr>
        <p:spPr>
          <a:xfrm>
            <a:off x="4462165" y="4099471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51" name="Shape 49"/>
          <p:cNvSpPr/>
          <p:nvPr/>
        </p:nvSpPr>
        <p:spPr>
          <a:xfrm>
            <a:off x="6652766" y="4099471"/>
            <a:ext cx="0" cy="11430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052" name="Text 50"/>
          <p:cNvSpPr/>
          <p:nvPr/>
        </p:nvSpPr>
        <p:spPr>
          <a:xfrm>
            <a:off x="7196138" y="4099471"/>
            <a:ext cx="1643063" cy="95250"/>
          </a:xfrm>
          <a:prstGeom prst="roundRect">
            <a:avLst>
              <a:gd name="adj" fmla="val 20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53" name="Text 51"/>
          <p:cNvSpPr/>
          <p:nvPr/>
        </p:nvSpPr>
        <p:spPr>
          <a:xfrm>
            <a:off x="304800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DB4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54" name="Text 52"/>
          <p:cNvSpPr/>
          <p:nvPr/>
        </p:nvSpPr>
        <p:spPr>
          <a:xfrm>
            <a:off x="514350" y="4794945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675" dirty="0"/>
          </a:p>
        </p:txBody>
      </p:sp>
      <p:sp>
        <p:nvSpPr>
          <p:cNvPr id="30055" name="Text 53"/>
          <p:cNvSpPr/>
          <p:nvPr/>
        </p:nvSpPr>
        <p:spPr>
          <a:xfrm>
            <a:off x="1157585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56" name="Text 54"/>
          <p:cNvSpPr/>
          <p:nvPr/>
        </p:nvSpPr>
        <p:spPr>
          <a:xfrm>
            <a:off x="1367135" y="4794945"/>
            <a:ext cx="447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675" dirty="0"/>
          </a:p>
        </p:txBody>
      </p:sp>
      <p:sp>
        <p:nvSpPr>
          <p:cNvPr id="30057" name="Text 55"/>
          <p:cNvSpPr/>
          <p:nvPr/>
        </p:nvSpPr>
        <p:spPr>
          <a:xfrm>
            <a:off x="2034183" y="4807297"/>
            <a:ext cx="152400" cy="95250"/>
          </a:xfrm>
          <a:prstGeom prst="roundRect">
            <a:avLst>
              <a:gd name="adj" fmla="val 20000"/>
            </a:avLst>
          </a:prstGeom>
          <a:solidFill>
            <a:srgbClr val="0343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58" name="Text 56"/>
          <p:cNvSpPr/>
          <p:nvPr/>
        </p:nvSpPr>
        <p:spPr>
          <a:xfrm>
            <a:off x="2243733" y="4794945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6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4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2" name="Text 0"/>
          <p:cNvSpPr/>
          <p:nvPr/>
        </p:nvSpPr>
        <p:spPr>
          <a:xfrm>
            <a:off x="304800" y="228600"/>
            <a:ext cx="4362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75" dirty="0"/>
          </a:p>
        </p:txBody>
      </p:sp>
      <p:sp>
        <p:nvSpPr>
          <p:cNvPr id="40003" name="Text 1"/>
          <p:cNvSpPr/>
          <p:nvPr/>
        </p:nvSpPr>
        <p:spPr>
          <a:xfrm>
            <a:off x="304800" y="771525"/>
            <a:ext cx="2019300" cy="921990"/>
          </a:xfrm>
          <a:prstGeom prst="roundRect">
            <a:avLst>
              <a:gd name="adj" fmla="val 826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04" name="Text 2"/>
          <p:cNvSpPr/>
          <p:nvPr/>
        </p:nvSpPr>
        <p:spPr>
          <a:xfrm>
            <a:off x="449770" y="933450"/>
            <a:ext cx="172935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2400" dirty="0"/>
          </a:p>
        </p:txBody>
      </p:sp>
      <p:sp>
        <p:nvSpPr>
          <p:cNvPr id="40005" name="Text 3"/>
          <p:cNvSpPr/>
          <p:nvPr/>
        </p:nvSpPr>
        <p:spPr>
          <a:xfrm>
            <a:off x="449770" y="1398240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750" dirty="0"/>
          </a:p>
        </p:txBody>
      </p:sp>
      <p:sp>
        <p:nvSpPr>
          <p:cNvPr id="40006" name="Text 4"/>
          <p:cNvSpPr/>
          <p:nvPr/>
        </p:nvSpPr>
        <p:spPr>
          <a:xfrm>
            <a:off x="2476500" y="771525"/>
            <a:ext cx="2019300" cy="921990"/>
          </a:xfrm>
          <a:prstGeom prst="roundRect">
            <a:avLst>
              <a:gd name="adj" fmla="val 826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07" name="Text 5"/>
          <p:cNvSpPr/>
          <p:nvPr/>
        </p:nvSpPr>
        <p:spPr>
          <a:xfrm>
            <a:off x="2621471" y="933450"/>
            <a:ext cx="172935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400" dirty="0"/>
          </a:p>
        </p:txBody>
      </p:sp>
      <p:sp>
        <p:nvSpPr>
          <p:cNvPr id="40008" name="Text 6"/>
          <p:cNvSpPr/>
          <p:nvPr/>
        </p:nvSpPr>
        <p:spPr>
          <a:xfrm>
            <a:off x="2621471" y="1398240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750" dirty="0"/>
          </a:p>
        </p:txBody>
      </p:sp>
      <p:sp>
        <p:nvSpPr>
          <p:cNvPr id="40009" name="Text 7"/>
          <p:cNvSpPr/>
          <p:nvPr/>
        </p:nvSpPr>
        <p:spPr>
          <a:xfrm>
            <a:off x="4648200" y="771525"/>
            <a:ext cx="2019300" cy="921990"/>
          </a:xfrm>
          <a:prstGeom prst="roundRect">
            <a:avLst>
              <a:gd name="adj" fmla="val 826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10" name="Text 8"/>
          <p:cNvSpPr/>
          <p:nvPr/>
        </p:nvSpPr>
        <p:spPr>
          <a:xfrm>
            <a:off x="4793171" y="933450"/>
            <a:ext cx="172935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[+##%]</a:t>
            </a:r>
            <a:endParaRPr lang="en-US" sz="2400" dirty="0"/>
          </a:p>
        </p:txBody>
      </p:sp>
      <p:sp>
        <p:nvSpPr>
          <p:cNvPr id="40011" name="Text 9"/>
          <p:cNvSpPr/>
          <p:nvPr/>
        </p:nvSpPr>
        <p:spPr>
          <a:xfrm>
            <a:off x="4793171" y="1398240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750" dirty="0"/>
          </a:p>
        </p:txBody>
      </p:sp>
      <p:sp>
        <p:nvSpPr>
          <p:cNvPr id="40012" name="Text 10"/>
          <p:cNvSpPr/>
          <p:nvPr/>
        </p:nvSpPr>
        <p:spPr>
          <a:xfrm>
            <a:off x="6819900" y="771525"/>
            <a:ext cx="2019300" cy="921990"/>
          </a:xfrm>
          <a:prstGeom prst="roundRect">
            <a:avLst>
              <a:gd name="adj" fmla="val 826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13" name="Text 11"/>
          <p:cNvSpPr/>
          <p:nvPr/>
        </p:nvSpPr>
        <p:spPr>
          <a:xfrm>
            <a:off x="6964871" y="933450"/>
            <a:ext cx="172935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$[##K]</a:t>
            </a:r>
            <a:endParaRPr lang="en-US" sz="2400" dirty="0"/>
          </a:p>
        </p:txBody>
      </p:sp>
      <p:sp>
        <p:nvSpPr>
          <p:cNvPr id="40014" name="Text 12"/>
          <p:cNvSpPr/>
          <p:nvPr/>
        </p:nvSpPr>
        <p:spPr>
          <a:xfrm>
            <a:off x="6964871" y="1398240"/>
            <a:ext cx="1729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750" dirty="0"/>
          </a:p>
        </p:txBody>
      </p:sp>
      <p:sp>
        <p:nvSpPr>
          <p:cNvPr id="40015" name="Text 13"/>
          <p:cNvSpPr/>
          <p:nvPr/>
        </p:nvSpPr>
        <p:spPr>
          <a:xfrm>
            <a:off x="304800" y="2074515"/>
            <a:ext cx="8534400" cy="678061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16" name="Text 14"/>
          <p:cNvSpPr/>
          <p:nvPr/>
        </p:nvSpPr>
        <p:spPr>
          <a:xfrm>
            <a:off x="466725" y="2236440"/>
            <a:ext cx="83747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PERIOD</a:t>
            </a:r>
            <a:endParaRPr lang="en-US" sz="600" dirty="0"/>
          </a:p>
        </p:txBody>
      </p:sp>
      <p:sp>
        <p:nvSpPr>
          <p:cNvPr id="40017" name="Text 15"/>
          <p:cNvSpPr/>
          <p:nvPr/>
        </p:nvSpPr>
        <p:spPr>
          <a:xfrm>
            <a:off x="466725" y="2419201"/>
            <a:ext cx="8374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[2-3 sentence summary of what happened this period. Focus on the most important outcomes and their business impact. Keep it concise and factual.]</a:t>
            </a:r>
            <a:endParaRPr lang="en-US" sz="900" dirty="0"/>
          </a:p>
        </p:txBody>
      </p:sp>
      <p:sp>
        <p:nvSpPr>
          <p:cNvPr id="40018" name="Text 16"/>
          <p:cNvSpPr/>
          <p:nvPr/>
        </p:nvSpPr>
        <p:spPr>
          <a:xfrm>
            <a:off x="304800" y="3485108"/>
            <a:ext cx="2736800" cy="1001911"/>
          </a:xfrm>
          <a:prstGeom prst="roundRect">
            <a:avLst>
              <a:gd name="adj" fmla="val 760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19" name="Text 17"/>
          <p:cNvSpPr/>
          <p:nvPr/>
        </p:nvSpPr>
        <p:spPr>
          <a:xfrm>
            <a:off x="447675" y="3627983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600" dirty="0"/>
          </a:p>
        </p:txBody>
      </p:sp>
      <p:sp>
        <p:nvSpPr>
          <p:cNvPr id="40020" name="Text 18"/>
          <p:cNvSpPr/>
          <p:nvPr/>
        </p:nvSpPr>
        <p:spPr>
          <a:xfrm>
            <a:off x="447675" y="3829794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1]</a:t>
            </a:r>
            <a:endParaRPr lang="en-US" sz="750" dirty="0"/>
          </a:p>
        </p:txBody>
      </p:sp>
      <p:sp>
        <p:nvSpPr>
          <p:cNvPr id="40021" name="Text 19"/>
          <p:cNvSpPr/>
          <p:nvPr/>
        </p:nvSpPr>
        <p:spPr>
          <a:xfrm>
            <a:off x="447675" y="4020294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2]</a:t>
            </a:r>
            <a:endParaRPr lang="en-US" sz="750" dirty="0"/>
          </a:p>
        </p:txBody>
      </p:sp>
      <p:sp>
        <p:nvSpPr>
          <p:cNvPr id="40022" name="Text 20"/>
          <p:cNvSpPr/>
          <p:nvPr/>
        </p:nvSpPr>
        <p:spPr>
          <a:xfrm>
            <a:off x="447675" y="4210794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3]</a:t>
            </a:r>
            <a:endParaRPr lang="en-US" sz="750" dirty="0"/>
          </a:p>
        </p:txBody>
      </p:sp>
      <p:sp>
        <p:nvSpPr>
          <p:cNvPr id="40023" name="Text 21"/>
          <p:cNvSpPr/>
          <p:nvPr/>
        </p:nvSpPr>
        <p:spPr>
          <a:xfrm>
            <a:off x="3194000" y="3580358"/>
            <a:ext cx="2736800" cy="811411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24" name="Text 22"/>
          <p:cNvSpPr/>
          <p:nvPr/>
        </p:nvSpPr>
        <p:spPr>
          <a:xfrm>
            <a:off x="3336875" y="3723233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600" dirty="0"/>
          </a:p>
        </p:txBody>
      </p:sp>
      <p:sp>
        <p:nvSpPr>
          <p:cNvPr id="40025" name="Text 23"/>
          <p:cNvSpPr/>
          <p:nvPr/>
        </p:nvSpPr>
        <p:spPr>
          <a:xfrm>
            <a:off x="3336875" y="3925044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1]</a:t>
            </a:r>
            <a:endParaRPr lang="en-US" sz="750" dirty="0"/>
          </a:p>
        </p:txBody>
      </p:sp>
      <p:sp>
        <p:nvSpPr>
          <p:cNvPr id="40026" name="Text 24"/>
          <p:cNvSpPr/>
          <p:nvPr/>
        </p:nvSpPr>
        <p:spPr>
          <a:xfrm>
            <a:off x="3336875" y="4115544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2]</a:t>
            </a:r>
            <a:endParaRPr lang="en-US" sz="750" dirty="0"/>
          </a:p>
        </p:txBody>
      </p:sp>
      <p:sp>
        <p:nvSpPr>
          <p:cNvPr id="40027" name="Text 25"/>
          <p:cNvSpPr/>
          <p:nvPr/>
        </p:nvSpPr>
        <p:spPr>
          <a:xfrm>
            <a:off x="6083201" y="3659535"/>
            <a:ext cx="2755850" cy="653207"/>
          </a:xfrm>
          <a:prstGeom prst="roundRect">
            <a:avLst>
              <a:gd name="adj" fmla="val 11666"/>
            </a:avLst>
          </a:prstGeom>
          <a:solidFill>
            <a:srgbClr val="F2EFE4"/>
          </a:solidFill>
          <a:ln w="19050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028" name="Text 26"/>
          <p:cNvSpPr/>
          <p:nvPr/>
        </p:nvSpPr>
        <p:spPr>
          <a:xfrm>
            <a:off x="6235601" y="3811935"/>
            <a:ext cx="25000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 NEEDED</a:t>
            </a:r>
            <a:endParaRPr lang="en-US" sz="600" dirty="0"/>
          </a:p>
        </p:txBody>
      </p:sp>
      <p:sp>
        <p:nvSpPr>
          <p:cNvPr id="40029" name="Text 27"/>
          <p:cNvSpPr/>
          <p:nvPr/>
        </p:nvSpPr>
        <p:spPr>
          <a:xfrm>
            <a:off x="6235601" y="4013746"/>
            <a:ext cx="2500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[Critical question or decision requiring client input]</a:t>
            </a:r>
            <a:endParaRPr lang="en-US" sz="8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5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02" name="Text 0"/>
          <p:cNvSpPr/>
          <p:nvPr/>
        </p:nvSpPr>
        <p:spPr>
          <a:xfrm>
            <a:off x="304800" y="266700"/>
            <a:ext cx="4478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75" dirty="0"/>
          </a:p>
        </p:txBody>
      </p:sp>
      <p:sp>
        <p:nvSpPr>
          <p:cNvPr id="50003" name="Text 1"/>
          <p:cNvSpPr/>
          <p:nvPr/>
        </p:nvSpPr>
        <p:spPr>
          <a:xfrm>
            <a:off x="304800" y="885825"/>
            <a:ext cx="87050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600" dirty="0"/>
          </a:p>
        </p:txBody>
      </p:sp>
      <p:sp>
        <p:nvSpPr>
          <p:cNvPr id="50004" name="Shape 2"/>
          <p:cNvSpPr/>
          <p:nvPr/>
        </p:nvSpPr>
        <p:spPr>
          <a:xfrm>
            <a:off x="319088" y="1087636"/>
            <a:ext cx="0" cy="18663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50005" name="Text 3"/>
          <p:cNvSpPr/>
          <p:nvPr/>
        </p:nvSpPr>
        <p:spPr>
          <a:xfrm>
            <a:off x="409575" y="1087636"/>
            <a:ext cx="85982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[Win #1 - one line summary of accomplishment]</a:t>
            </a:r>
            <a:endParaRPr lang="en-US" sz="1050" dirty="0"/>
          </a:p>
        </p:txBody>
      </p:sp>
      <p:sp>
        <p:nvSpPr>
          <p:cNvPr id="50006" name="Shape 4"/>
          <p:cNvSpPr/>
          <p:nvPr/>
        </p:nvSpPr>
        <p:spPr>
          <a:xfrm>
            <a:off x="319088" y="1350466"/>
            <a:ext cx="0" cy="18663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50007" name="Text 5"/>
          <p:cNvSpPr/>
          <p:nvPr/>
        </p:nvSpPr>
        <p:spPr>
          <a:xfrm>
            <a:off x="409575" y="1350466"/>
            <a:ext cx="85982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[Win #2 - one line summary of accomplishment]</a:t>
            </a:r>
            <a:endParaRPr lang="en-US" sz="1050" dirty="0"/>
          </a:p>
        </p:txBody>
      </p:sp>
      <p:sp>
        <p:nvSpPr>
          <p:cNvPr id="50008" name="Shape 6"/>
          <p:cNvSpPr/>
          <p:nvPr/>
        </p:nvSpPr>
        <p:spPr>
          <a:xfrm>
            <a:off x="319088" y="1613297"/>
            <a:ext cx="0" cy="18663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50009" name="Text 7"/>
          <p:cNvSpPr/>
          <p:nvPr/>
        </p:nvSpPr>
        <p:spPr>
          <a:xfrm>
            <a:off x="409575" y="1613297"/>
            <a:ext cx="85982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[Win #3 - one line summary of accomplishment]</a:t>
            </a:r>
            <a:endParaRPr lang="en-US" sz="1050" dirty="0"/>
          </a:p>
        </p:txBody>
      </p:sp>
      <p:sp>
        <p:nvSpPr>
          <p:cNvPr id="50010" name="Text 8"/>
          <p:cNvSpPr/>
          <p:nvPr/>
        </p:nvSpPr>
        <p:spPr>
          <a:xfrm>
            <a:off x="304800" y="2142827"/>
            <a:ext cx="87050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600" dirty="0"/>
          </a:p>
        </p:txBody>
      </p:sp>
      <p:sp>
        <p:nvSpPr>
          <p:cNvPr id="50011" name="Shape 9"/>
          <p:cNvSpPr/>
          <p:nvPr/>
        </p:nvSpPr>
        <p:spPr>
          <a:xfrm>
            <a:off x="319088" y="2344638"/>
            <a:ext cx="0" cy="186630"/>
          </a:xfrm>
          <a:prstGeom prst="line">
            <a:avLst/>
          </a:prstGeom>
          <a:noFill/>
          <a:ln w="28575">
            <a:solidFill>
              <a:srgbClr val="CA8A04"/>
            </a:solidFill>
            <a:prstDash val="solid"/>
          </a:ln>
        </p:spPr>
      </p:sp>
      <p:sp>
        <p:nvSpPr>
          <p:cNvPr id="50012" name="Text 10"/>
          <p:cNvSpPr/>
          <p:nvPr/>
        </p:nvSpPr>
        <p:spPr>
          <a:xfrm>
            <a:off x="409575" y="2344638"/>
            <a:ext cx="85982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[Primary challenge - one line description of the blocker or issue]</a:t>
            </a:r>
            <a:endParaRPr lang="en-US" sz="1050" dirty="0"/>
          </a:p>
        </p:txBody>
      </p:sp>
      <p:sp>
        <p:nvSpPr>
          <p:cNvPr id="50013" name="Text 11"/>
          <p:cNvSpPr/>
          <p:nvPr/>
        </p:nvSpPr>
        <p:spPr>
          <a:xfrm>
            <a:off x="304800" y="2874169"/>
            <a:ext cx="87050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750"/>
              </a:spcAft>
              <a:buNone/>
            </a:pPr>
            <a:r>
              <a:rPr lang="en-US" sz="6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600" dirty="0"/>
          </a:p>
        </p:txBody>
      </p:sp>
      <p:sp>
        <p:nvSpPr>
          <p:cNvPr id="50014" name="Shape 12"/>
          <p:cNvSpPr/>
          <p:nvPr/>
        </p:nvSpPr>
        <p:spPr>
          <a:xfrm>
            <a:off x="319088" y="3075980"/>
            <a:ext cx="0" cy="186630"/>
          </a:xfrm>
          <a:prstGeom prst="line">
            <a:avLst/>
          </a:prstGeom>
          <a:noFill/>
          <a:ln w="28575">
            <a:solidFill>
              <a:srgbClr val="DB4545"/>
            </a:solidFill>
            <a:prstDash val="solid"/>
          </a:ln>
        </p:spPr>
      </p:sp>
      <p:sp>
        <p:nvSpPr>
          <p:cNvPr id="50015" name="Text 13"/>
          <p:cNvSpPr/>
          <p:nvPr/>
        </p:nvSpPr>
        <p:spPr>
          <a:xfrm>
            <a:off x="409575" y="3075980"/>
            <a:ext cx="85982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specific decision or action needed from the client]</a:t>
            </a:r>
            <a:endParaRPr lang="en-US" sz="1050" dirty="0"/>
          </a:p>
        </p:txBody>
      </p:sp>
      <p:sp>
        <p:nvSpPr>
          <p:cNvPr id="50016" name="Text 14"/>
          <p:cNvSpPr/>
          <p:nvPr/>
        </p:nvSpPr>
        <p:spPr>
          <a:xfrm>
            <a:off x="134112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 X of Y] - [Period dates]</a:t>
            </a:r>
            <a:endParaRPr lang="en-US" sz="6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 Section">
    <p:bg>
      <p:bgPr>
        <a:solidFill>
          <a:srgbClr val="E5E2D8"/>
        </a:solidFill>
      </p:bgPr>
    </p:bg>
    <p:spTree>
      <p:nvGrpSpPr>
        <p:cNvPr id="5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0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5000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Roadmap</a:t>
            </a:r>
            <a:endParaRPr lang="en-US" sz="3600" dirty="0"/>
          </a:p>
        </p:txBody>
      </p:sp>
      <p:sp>
        <p:nvSpPr>
          <p:cNvPr id="5000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views, milestones, and initiative phasing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Cadre MBR Template</dc:title>
  <dc:subject>Monthly Business Review Template - Full Variation Library</dc:subject>
  <dc:creator>Cadre AI</dc:creator>
  <cp:lastModifiedBy>Cadre AI</cp:lastModifiedBy>
  <cp:revision>1</cp:revision>
  <dcterms:created xsi:type="dcterms:W3CDTF">2026-01-06T23:38:57Z</dcterms:created>
  <dcterms:modified xsi:type="dcterms:W3CDTF">2026-01-06T23:38:57Z</dcterms:modified>
</cp:coreProperties>
</file>