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5E2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963317"/>
            <a:ext cx="87439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900"/>
              </a:spcAft>
              <a:buNone/>
            </a:pPr>
            <a:r>
              <a:rPr lang="en-US" sz="825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SECTION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285750" y="3224213"/>
            <a:ext cx="43816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85750" y="3833812"/>
            <a:ext cx="874395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opening slide with client name and period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0025" y="2352675"/>
            <a:ext cx="87439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Aft>
                <a:spcPts val="3000"/>
              </a:spcAft>
              <a:buNone/>
            </a:pPr>
            <a:r>
              <a:rPr lang="en-US" sz="900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CADRE AI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381155" y="2893665"/>
            <a:ext cx="4381691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00"/>
              </a:lnSpc>
              <a:spcAft>
                <a:spcPts val="600"/>
              </a:spcAft>
              <a:buNone/>
            </a:pPr>
            <a:r>
              <a:rPr lang="en-US" sz="3300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[Client Name]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200025" y="3388965"/>
            <a:ext cx="8743950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spcAft>
                <a:spcPts val="3000"/>
              </a:spcAft>
              <a:buNone/>
            </a:pPr>
            <a:r>
              <a:rPr lang="en-US" sz="1650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Business Review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200025" y="4063305"/>
            <a:ext cx="874395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[Month Year] · Month [X] of [Y]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5E2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963317"/>
            <a:ext cx="87439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900"/>
              </a:spcAft>
              <a:buNone/>
            </a:pPr>
            <a:r>
              <a:rPr lang="en-US" sz="825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SECTION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285750" y="3224213"/>
            <a:ext cx="4439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85750" y="3833812"/>
            <a:ext cx="874395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High-level status, key wins, active challenges, and critical decisions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47650"/>
            <a:ext cx="258568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90500" y="1604516"/>
            <a:ext cx="8763000" cy="751433"/>
          </a:xfrm>
          <a:prstGeom prst="roundRect">
            <a:avLst>
              <a:gd name="adj" fmla="val 15211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52425" y="1766441"/>
            <a:ext cx="86079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750"/>
              </a:spcAft>
              <a:buNone/>
            </a:pPr>
            <a:r>
              <a:rPr lang="en-US" sz="825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WINS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352425" y="2008287"/>
            <a:ext cx="276573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[Key win #1]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3216325" y="2008287"/>
            <a:ext cx="276573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[Key win #2]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6080224" y="2008287"/>
            <a:ext cx="276573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[Key win #3]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190500" y="2470249"/>
            <a:ext cx="8763000" cy="923776"/>
          </a:xfrm>
          <a:prstGeom prst="roundRect">
            <a:avLst>
              <a:gd name="adj" fmla="val 12373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52425" y="2632174"/>
            <a:ext cx="86079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750"/>
              </a:spcAft>
              <a:buNone/>
            </a:pPr>
            <a:r>
              <a:rPr lang="en-US" sz="825" b="1" dirty="0">
                <a:solidFill>
                  <a:srgbClr val="CA8A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CHALLENGES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352425" y="2874020"/>
            <a:ext cx="422624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[Challenge Title]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52425" y="3072110"/>
            <a:ext cx="422624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[Brief description]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48200" y="2874020"/>
            <a:ext cx="422624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[Challenge Title]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48200" y="3072110"/>
            <a:ext cx="422624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[Brief description]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90500" y="3508325"/>
            <a:ext cx="8763000" cy="752326"/>
          </a:xfrm>
          <a:prstGeom prst="roundRect">
            <a:avLst>
              <a:gd name="adj" fmla="val 15193"/>
            </a:avLst>
          </a:prstGeom>
          <a:solidFill>
            <a:srgbClr val="F2EFE4"/>
          </a:solidFill>
          <a:ln w="19050">
            <a:solidFill>
              <a:srgbClr val="CA8A0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61950" y="3679775"/>
            <a:ext cx="858850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CA8A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DECISION NEEDED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361950" y="3902571"/>
            <a:ext cx="858850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[Critical question requiring client input]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E2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963317"/>
            <a:ext cx="87439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900"/>
              </a:spcAft>
              <a:buNone/>
            </a:pPr>
            <a:r>
              <a:rPr lang="en-US" sz="825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SECTION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285750" y="3224213"/>
            <a:ext cx="43816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&amp; Wins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85750" y="3833812"/>
            <a:ext cx="874395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Workstream accomplishments, completed deliverables, and key metrics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87439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[WORKSTREAM NAME]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285750" y="470446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&amp; Wins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85750" y="1884015"/>
            <a:ext cx="512978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85750" y="2310705"/>
            <a:ext cx="5029200" cy="1876425"/>
          </a:xfrm>
          <a:prstGeom prst="roundRect">
            <a:avLst>
              <a:gd name="adj" fmla="val 5076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28625" y="2453580"/>
            <a:ext cx="4838319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spcAft>
                <a:spcPts val="750"/>
              </a:spcAft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[Completed item #1]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428625" y="2734568"/>
            <a:ext cx="4838319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spcAft>
                <a:spcPts val="750"/>
              </a:spcAft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[Completed item #2]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428625" y="3015555"/>
            <a:ext cx="4838319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spcAft>
                <a:spcPts val="750"/>
              </a:spcAft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[Completed item #3]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428625" y="3296543"/>
            <a:ext cx="4838319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spcAft>
                <a:spcPts val="750"/>
              </a:spcAft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[Completed item #4]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428625" y="3577530"/>
            <a:ext cx="4838319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spcAft>
                <a:spcPts val="750"/>
              </a:spcAft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[Completed item #5]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428625" y="3858518"/>
            <a:ext cx="4838319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[Completed item #6]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5505450" y="1166961"/>
            <a:ext cx="341985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87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METRICS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505450" y="1441252"/>
            <a:ext cx="3352800" cy="1078111"/>
          </a:xfrm>
          <a:prstGeom prst="roundRect">
            <a:avLst>
              <a:gd name="adj" fmla="val 8835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675948" y="1641277"/>
            <a:ext cx="3011805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[##%]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5675948" y="2159347"/>
            <a:ext cx="301180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[Metric Label]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505450" y="2633663"/>
            <a:ext cx="3352800" cy="1078111"/>
          </a:xfrm>
          <a:prstGeom prst="roundRect">
            <a:avLst>
              <a:gd name="adj" fmla="val 8835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675948" y="2833688"/>
            <a:ext cx="3011805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[##]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5675948" y="3351758"/>
            <a:ext cx="301180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[Metric Label]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505450" y="3826073"/>
            <a:ext cx="3352800" cy="1078111"/>
          </a:xfrm>
          <a:prstGeom prst="roundRect">
            <a:avLst>
              <a:gd name="adj" fmla="val 8835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675948" y="4026098"/>
            <a:ext cx="3011805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[##]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5675948" y="4544169"/>
            <a:ext cx="301180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[Metric Label]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87439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[WORKSTREAM NAME]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285750" y="470446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&amp; Wins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85750" y="1727002"/>
            <a:ext cx="42748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[CATEGORY]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85750" y="1982242"/>
            <a:ext cx="2047875" cy="881807"/>
          </a:xfrm>
          <a:prstGeom prst="roundRect">
            <a:avLst>
              <a:gd name="adj" fmla="val 10802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30435" y="2144167"/>
            <a:ext cx="1758506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[##]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430435" y="2555528"/>
            <a:ext cx="175850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[Metric Label]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2428875" y="1982242"/>
            <a:ext cx="2047875" cy="881807"/>
          </a:xfrm>
          <a:prstGeom prst="roundRect">
            <a:avLst>
              <a:gd name="adj" fmla="val 10802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573560" y="2144167"/>
            <a:ext cx="1758506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[##%]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2573560" y="2555528"/>
            <a:ext cx="175850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[Metric Label]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285750" y="2959298"/>
            <a:ext cx="2047875" cy="881807"/>
          </a:xfrm>
          <a:prstGeom prst="roundRect">
            <a:avLst>
              <a:gd name="adj" fmla="val 10802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30435" y="3121223"/>
            <a:ext cx="1758506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[##]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430435" y="3532584"/>
            <a:ext cx="175850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[Metric Label]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2428875" y="2959298"/>
            <a:ext cx="2047875" cy="881807"/>
          </a:xfrm>
          <a:prstGeom prst="roundRect">
            <a:avLst>
              <a:gd name="adj" fmla="val 10802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573560" y="3121223"/>
            <a:ext cx="1758506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[##]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2573560" y="3532584"/>
            <a:ext cx="175850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[Metric Label]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285750" y="3936355"/>
            <a:ext cx="4191000" cy="407640"/>
          </a:xfrm>
          <a:prstGeom prst="roundRect">
            <a:avLst>
              <a:gd name="adj" fmla="val 23366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70142" y="4060180"/>
            <a:ext cx="402221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[Summary or comparison note]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67250" y="1430387"/>
            <a:ext cx="42748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87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WINS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67250" y="1685627"/>
            <a:ext cx="4191000" cy="995363"/>
          </a:xfrm>
          <a:prstGeom prst="roundRect">
            <a:avLst>
              <a:gd name="adj" fmla="val 9569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10125" y="1828502"/>
            <a:ext cx="3983355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[Win #1]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4810125" y="2090440"/>
            <a:ext cx="3983355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[Win #2]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4810125" y="2352377"/>
            <a:ext cx="3983355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[Win #3]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4667250" y="2852440"/>
            <a:ext cx="42748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600"/>
              </a:spcBef>
              <a:buNone/>
            </a:pPr>
            <a:r>
              <a:rPr lang="en-US" sz="900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BREAKDOWN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667250" y="3107680"/>
            <a:ext cx="4191000" cy="1533079"/>
          </a:xfrm>
          <a:prstGeom prst="roundRect">
            <a:avLst>
              <a:gd name="adj" fmla="val 6213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810125" y="3250555"/>
            <a:ext cx="39833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150"/>
              </a:spcAft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[CATEGORY 1]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10125" y="3429595"/>
            <a:ext cx="398335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[Status or detail]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4810125" y="3698081"/>
            <a:ext cx="39833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150"/>
              </a:spcAft>
              <a:buNone/>
            </a:pPr>
            <a:r>
              <a:rPr lang="en-US" sz="900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[CATEGORY 2]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10125" y="3877121"/>
            <a:ext cx="398335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[Status or detail]</a:t>
            </a:r>
            <a:endParaRPr lang="en-US" sz="975" dirty="0"/>
          </a:p>
        </p:txBody>
      </p:sp>
      <p:sp>
        <p:nvSpPr>
          <p:cNvPr id="30" name="Text 28"/>
          <p:cNvSpPr/>
          <p:nvPr/>
        </p:nvSpPr>
        <p:spPr>
          <a:xfrm>
            <a:off x="4810125" y="4145607"/>
            <a:ext cx="39833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150"/>
              </a:spcAft>
              <a:buNone/>
            </a:pPr>
            <a:r>
              <a:rPr lang="en-US" sz="900" b="1" dirty="0">
                <a:solidFill>
                  <a:srgbClr val="087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[CATEGORY 3]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10125" y="4324648"/>
            <a:ext cx="398335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[Status or detail]</a:t>
            </a:r>
            <a:endParaRPr lang="en-US" sz="9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87439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[CATEGORY]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285750" y="470446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&amp; Wins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85750" y="1939677"/>
            <a:ext cx="42748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[COUNT] COMPLETED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85750" y="2213967"/>
            <a:ext cx="4191000" cy="533400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85750" y="2899767"/>
            <a:ext cx="42748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OBSERVATIONS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85750" y="3174057"/>
            <a:ext cx="4191000" cy="957263"/>
          </a:xfrm>
          <a:prstGeom prst="roundRect">
            <a:avLst>
              <a:gd name="adj" fmla="val 9950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28625" y="3316932"/>
            <a:ext cx="3983355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[Observation #1]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428625" y="3559820"/>
            <a:ext cx="3983355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[Observation #2]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428625" y="3802707"/>
            <a:ext cx="3983355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[Observation #3]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4667250" y="1768376"/>
            <a:ext cx="42748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DB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STORIES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67250" y="2023616"/>
            <a:ext cx="4191000" cy="696218"/>
          </a:xfrm>
          <a:prstGeom prst="roundRect">
            <a:avLst>
              <a:gd name="adj" fmla="val 1368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667250" y="2028379"/>
            <a:ext cx="4191000" cy="0"/>
          </a:xfrm>
          <a:prstGeom prst="line">
            <a:avLst/>
          </a:prstGeom>
          <a:noFill/>
          <a:ln w="9525">
            <a:solidFill>
              <a:srgbClr val="E5E2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853488" y="2023616"/>
            <a:ext cx="0" cy="696218"/>
          </a:xfrm>
          <a:prstGeom prst="line">
            <a:avLst/>
          </a:prstGeom>
          <a:noFill/>
          <a:ln w="9525">
            <a:solidFill>
              <a:srgbClr val="E5E2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7250" y="2715071"/>
            <a:ext cx="4191000" cy="0"/>
          </a:xfrm>
          <a:prstGeom prst="line">
            <a:avLst/>
          </a:prstGeom>
          <a:noFill/>
          <a:ln w="9525">
            <a:solidFill>
              <a:srgbClr val="E5E2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86300" y="2023616"/>
            <a:ext cx="0" cy="696218"/>
          </a:xfrm>
          <a:prstGeom prst="line">
            <a:avLst/>
          </a:prstGeom>
          <a:noFill/>
          <a:ln w="38100">
            <a:solidFill>
              <a:srgbClr val="DB45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38700" y="2166491"/>
            <a:ext cx="395420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[Person/Team Name]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38700" y="2391221"/>
            <a:ext cx="3954209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[Achievement description]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4667250" y="2815084"/>
            <a:ext cx="4191000" cy="696218"/>
          </a:xfrm>
          <a:prstGeom prst="roundRect">
            <a:avLst>
              <a:gd name="adj" fmla="val 1368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667250" y="2819846"/>
            <a:ext cx="4191000" cy="0"/>
          </a:xfrm>
          <a:prstGeom prst="line">
            <a:avLst/>
          </a:prstGeom>
          <a:noFill/>
          <a:ln w="9525">
            <a:solidFill>
              <a:srgbClr val="E5E2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853488" y="2815084"/>
            <a:ext cx="0" cy="696218"/>
          </a:xfrm>
          <a:prstGeom prst="line">
            <a:avLst/>
          </a:prstGeom>
          <a:noFill/>
          <a:ln w="9525">
            <a:solidFill>
              <a:srgbClr val="E5E2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7250" y="3506539"/>
            <a:ext cx="4191000" cy="0"/>
          </a:xfrm>
          <a:prstGeom prst="line">
            <a:avLst/>
          </a:prstGeom>
          <a:noFill/>
          <a:ln w="9525">
            <a:solidFill>
              <a:srgbClr val="E5E2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86300" y="2815084"/>
            <a:ext cx="0" cy="696218"/>
          </a:xfrm>
          <a:prstGeom prst="line">
            <a:avLst/>
          </a:prstGeom>
          <a:noFill/>
          <a:ln w="38100">
            <a:solidFill>
              <a:srgbClr val="08749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38700" y="2957959"/>
            <a:ext cx="395420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[Person/Team Name]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38700" y="3182689"/>
            <a:ext cx="3954209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[Achievement description]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4667250" y="3606552"/>
            <a:ext cx="4191000" cy="696218"/>
          </a:xfrm>
          <a:prstGeom prst="roundRect">
            <a:avLst>
              <a:gd name="adj" fmla="val 1368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667250" y="3611314"/>
            <a:ext cx="4191000" cy="0"/>
          </a:xfrm>
          <a:prstGeom prst="line">
            <a:avLst/>
          </a:prstGeom>
          <a:noFill/>
          <a:ln w="9525">
            <a:solidFill>
              <a:srgbClr val="E5E2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853488" y="3606552"/>
            <a:ext cx="0" cy="696218"/>
          </a:xfrm>
          <a:prstGeom prst="line">
            <a:avLst/>
          </a:prstGeom>
          <a:noFill/>
          <a:ln w="9525">
            <a:solidFill>
              <a:srgbClr val="E5E2D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67250" y="4298007"/>
            <a:ext cx="4191000" cy="0"/>
          </a:xfrm>
          <a:prstGeom prst="line">
            <a:avLst/>
          </a:prstGeom>
          <a:noFill/>
          <a:ln w="9525">
            <a:solidFill>
              <a:srgbClr val="E5E2D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86300" y="3606552"/>
            <a:ext cx="0" cy="696218"/>
          </a:xfrm>
          <a:prstGeom prst="line">
            <a:avLst/>
          </a:prstGeom>
          <a:noFill/>
          <a:ln w="381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38700" y="3749427"/>
            <a:ext cx="395420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[Person/Team Name]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38700" y="3974157"/>
            <a:ext cx="3954209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[Achievement description]</a:t>
            </a:r>
            <a:endParaRPr lang="en-US" sz="9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5E2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963317"/>
            <a:ext cx="87439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900"/>
              </a:spcAft>
              <a:buNone/>
            </a:pPr>
            <a:r>
              <a:rPr lang="en-US" sz="825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SECTION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285750" y="3224213"/>
            <a:ext cx="43816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&amp; Plans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85750" y="3833812"/>
            <a:ext cx="874395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blockers, root causes, actions taken, and work in progress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87439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[WORKSTREAM NAME]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285750" y="470446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&amp; Plans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85750" y="1507927"/>
            <a:ext cx="42748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CA8A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CHALLENGE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85750" y="1934617"/>
            <a:ext cx="4191000" cy="1034355"/>
          </a:xfrm>
          <a:prstGeom prst="roundRect">
            <a:avLst>
              <a:gd name="adj" fmla="val 9209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47675" y="2096542"/>
            <a:ext cx="394449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[Challenge headline]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47675" y="2359372"/>
            <a:ext cx="3944493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[Context and impact]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447675" y="2621310"/>
            <a:ext cx="3944493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cause:</a:t>
            </a:r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[Identified root cause]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285750" y="3235672"/>
            <a:ext cx="42748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 TAKEN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85750" y="3643313"/>
            <a:ext cx="4191000" cy="919758"/>
          </a:xfrm>
          <a:prstGeom prst="roundRect">
            <a:avLst>
              <a:gd name="adj" fmla="val 10356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28625" y="3786188"/>
            <a:ext cx="398335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[Action #1]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428625" y="4016573"/>
            <a:ext cx="398335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[Action #2]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428625" y="4246959"/>
            <a:ext cx="398335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[Action #3]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4667250" y="1298823"/>
            <a:ext cx="42748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087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67250" y="1725513"/>
            <a:ext cx="4191000" cy="740866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29175" y="1887438"/>
            <a:ext cx="394449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[Work item title]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29175" y="2131219"/>
            <a:ext cx="394449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[Status and timeline]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4667250" y="2733080"/>
            <a:ext cx="4191000" cy="740866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829175" y="2895005"/>
            <a:ext cx="394449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[Work item title]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29175" y="3138785"/>
            <a:ext cx="394449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[Status and timeline]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4667250" y="3893046"/>
            <a:ext cx="42748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1200"/>
              </a:spcBef>
              <a:spcAft>
                <a:spcPts val="750"/>
              </a:spcAft>
              <a:buNone/>
            </a:pPr>
            <a:r>
              <a:rPr lang="en-US" sz="900" b="1" dirty="0">
                <a:solidFill>
                  <a:srgbClr val="CA8A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QUESTION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67250" y="4300686"/>
            <a:ext cx="4191000" cy="471488"/>
          </a:xfrm>
          <a:prstGeom prst="roundRect">
            <a:avLst>
              <a:gd name="adj" fmla="val 20202"/>
            </a:avLst>
          </a:prstGeom>
          <a:solidFill>
            <a:srgbClr val="F2EFE4"/>
          </a:solidFill>
          <a:ln w="9525">
            <a:solidFill>
              <a:srgbClr val="CA8A0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810125" y="4443561"/>
            <a:ext cx="3983355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[Question requiring client input]</a:t>
            </a:r>
            <a:endParaRPr lang="en-US" sz="9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87439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DB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NEEDED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285750" y="413296"/>
            <a:ext cx="43816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[Decision Topic]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85750" y="1987451"/>
            <a:ext cx="42748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DB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BLOCKER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85750" y="2414141"/>
            <a:ext cx="4191000" cy="144095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285750" y="2418904"/>
            <a:ext cx="4191000" cy="0"/>
          </a:xfrm>
          <a:prstGeom prst="line">
            <a:avLst/>
          </a:prstGeom>
          <a:noFill/>
          <a:ln w="9525">
            <a:solidFill>
              <a:srgbClr val="E5E2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471988" y="2414141"/>
            <a:ext cx="0" cy="1440954"/>
          </a:xfrm>
          <a:prstGeom prst="line">
            <a:avLst/>
          </a:prstGeom>
          <a:noFill/>
          <a:ln w="9525">
            <a:solidFill>
              <a:srgbClr val="E5E2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5750" y="3850332"/>
            <a:ext cx="4191000" cy="0"/>
          </a:xfrm>
          <a:prstGeom prst="line">
            <a:avLst/>
          </a:prstGeom>
          <a:noFill/>
          <a:ln w="9525">
            <a:solidFill>
              <a:srgbClr val="E5E2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4800" y="2414141"/>
            <a:ext cx="0" cy="1440954"/>
          </a:xfrm>
          <a:prstGeom prst="line">
            <a:avLst/>
          </a:prstGeom>
          <a:noFill/>
          <a:ln w="38100">
            <a:solidFill>
              <a:srgbClr val="DB45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6250" y="2576066"/>
            <a:ext cx="391534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[What's blocked]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6250" y="2857946"/>
            <a:ext cx="3915347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spcAft>
                <a:spcPts val="900"/>
              </a:spcAft>
              <a:buNone/>
            </a:pPr>
            <a:r>
              <a:rPr lang="en-US" sz="975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[Why it's blocked - root cause or dependency]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476250" y="3157984"/>
            <a:ext cx="3838575" cy="535186"/>
          </a:xfrm>
          <a:prstGeom prst="roundRect">
            <a:avLst>
              <a:gd name="adj" fmla="val 10679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71500" y="3253234"/>
            <a:ext cx="37210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DB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IF UNRESOLVED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571500" y="3437930"/>
            <a:ext cx="372103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[Timeline slip, cost, risk description]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67250" y="1636663"/>
            <a:ext cx="42748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087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NEED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67250" y="2063353"/>
            <a:ext cx="4191000" cy="214253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667250" y="2068116"/>
            <a:ext cx="4191000" cy="0"/>
          </a:xfrm>
          <a:prstGeom prst="line">
            <a:avLst/>
          </a:prstGeom>
          <a:noFill/>
          <a:ln w="9525">
            <a:solidFill>
              <a:srgbClr val="E5E2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853488" y="2063353"/>
            <a:ext cx="0" cy="2142530"/>
          </a:xfrm>
          <a:prstGeom prst="line">
            <a:avLst/>
          </a:prstGeom>
          <a:noFill/>
          <a:ln w="9525">
            <a:solidFill>
              <a:srgbClr val="E5E2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7250" y="4201120"/>
            <a:ext cx="4191000" cy="0"/>
          </a:xfrm>
          <a:prstGeom prst="line">
            <a:avLst/>
          </a:prstGeom>
          <a:noFill/>
          <a:ln w="9525">
            <a:solidFill>
              <a:srgbClr val="E5E2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86300" y="2063353"/>
            <a:ext cx="0" cy="2142530"/>
          </a:xfrm>
          <a:prstGeom prst="line">
            <a:avLst/>
          </a:prstGeom>
          <a:noFill/>
          <a:ln w="38100">
            <a:solidFill>
              <a:srgbClr val="08749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57750" y="2225278"/>
            <a:ext cx="391534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[Specific decision or action needed]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57750" y="2526209"/>
            <a:ext cx="391534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A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4857750" y="2729954"/>
            <a:ext cx="391534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[First option and what it means]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4857750" y="3017490"/>
            <a:ext cx="391534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B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4857750" y="3221236"/>
            <a:ext cx="391534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[Second option and what it means]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4857750" y="3508772"/>
            <a:ext cx="3838575" cy="535186"/>
          </a:xfrm>
          <a:prstGeom prst="roundRect">
            <a:avLst>
              <a:gd name="adj" fmla="val 10679"/>
            </a:avLst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953000" y="3604022"/>
            <a:ext cx="37210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087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RECOMMENDATION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4953000" y="3788718"/>
            <a:ext cx="372103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[Recommended path and why]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87439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UPDATE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285750" y="413296"/>
            <a:ext cx="43816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Update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85750" y="1647081"/>
            <a:ext cx="42748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85750" y="2073771"/>
            <a:ext cx="4191000" cy="643682"/>
          </a:xfrm>
          <a:prstGeom prst="roundRect">
            <a:avLst>
              <a:gd name="adj" fmla="val 11838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28625" y="2216646"/>
            <a:ext cx="398335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[Resolved item #1]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428625" y="2427982"/>
            <a:ext cx="398335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[How it was resolved]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285750" y="2812703"/>
            <a:ext cx="4191000" cy="643682"/>
          </a:xfrm>
          <a:prstGeom prst="roundRect">
            <a:avLst>
              <a:gd name="adj" fmla="val 11838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28625" y="2955578"/>
            <a:ext cx="398335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[Resolved item #2]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428625" y="3166914"/>
            <a:ext cx="398335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[How it was resolved]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285750" y="3551634"/>
            <a:ext cx="4191000" cy="643682"/>
          </a:xfrm>
          <a:prstGeom prst="roundRect">
            <a:avLst>
              <a:gd name="adj" fmla="val 11838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28625" y="3694509"/>
            <a:ext cx="398335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[Resolved item #3]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428625" y="3905845"/>
            <a:ext cx="398335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[How it was resolved]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4667250" y="1647081"/>
            <a:ext cx="42748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CA8A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67250" y="2073771"/>
            <a:ext cx="4191000" cy="643682"/>
          </a:xfrm>
          <a:prstGeom prst="roundRect">
            <a:avLst>
              <a:gd name="adj" fmla="val 11838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10125" y="2216646"/>
            <a:ext cx="398335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[Monitoring item #1]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4810125" y="2427982"/>
            <a:ext cx="398335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[Current status and next check]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4667250" y="2812703"/>
            <a:ext cx="4191000" cy="643682"/>
          </a:xfrm>
          <a:prstGeom prst="roundRect">
            <a:avLst>
              <a:gd name="adj" fmla="val 11838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810125" y="2955578"/>
            <a:ext cx="398335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[Monitoring item #2]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4810125" y="3166914"/>
            <a:ext cx="398335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[Current status and next check]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4667250" y="3551634"/>
            <a:ext cx="4191000" cy="643682"/>
          </a:xfrm>
          <a:prstGeom prst="roundRect">
            <a:avLst>
              <a:gd name="adj" fmla="val 11838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810125" y="3694509"/>
            <a:ext cx="398335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[Monitoring item #3]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4810125" y="3905845"/>
            <a:ext cx="398335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[Current status and next check]</a:t>
            </a:r>
            <a:endParaRPr lang="en-US" sz="8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5E2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963317"/>
            <a:ext cx="87439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900"/>
              </a:spcAft>
              <a:buNone/>
            </a:pPr>
            <a:r>
              <a:rPr lang="en-US" sz="825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SECTION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285750" y="3224213"/>
            <a:ext cx="43816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85750" y="3833812"/>
            <a:ext cx="874395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requiring client input, recommendations, or open exploration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87439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CA8A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NEEDED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285750" y="413296"/>
            <a:ext cx="43816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Discussion: [Topic]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85750" y="946696"/>
            <a:ext cx="8572500" cy="678061"/>
          </a:xfrm>
          <a:prstGeom prst="roundRect">
            <a:avLst>
              <a:gd name="adj" fmla="val 14047"/>
            </a:avLst>
          </a:prstGeom>
          <a:solidFill>
            <a:srgbClr val="F2EFE4"/>
          </a:solidFill>
          <a:ln w="19050">
            <a:solidFill>
              <a:srgbClr val="CA8A0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19100" y="1080046"/>
            <a:ext cx="847191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[Key question requiring decision]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9100" y="1331416"/>
            <a:ext cx="84719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[Context for why this decision matters]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85750" y="1875532"/>
            <a:ext cx="4210050" cy="2807643"/>
          </a:xfrm>
          <a:prstGeom prst="roundRect">
            <a:avLst>
              <a:gd name="adj" fmla="val 3393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47675" y="2037457"/>
            <a:ext cx="39639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150"/>
              </a:spcAft>
              <a:buNone/>
            </a:pPr>
            <a:r>
              <a:rPr lang="en-US" sz="975" b="1" dirty="0">
                <a:solidFill>
                  <a:srgbClr val="DB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[If Condition A]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447675" y="2382143"/>
            <a:ext cx="39639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900"/>
              </a:spcAft>
              <a:buNone/>
            </a:pPr>
            <a:r>
              <a:rPr lang="en-US" sz="1125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[Option A Title]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447675" y="2848868"/>
            <a:ext cx="39639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[Implication #1]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47675" y="3218408"/>
            <a:ext cx="39639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[Implication #2]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47675" y="3587948"/>
            <a:ext cx="39639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[Implication #3]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47675" y="3957489"/>
            <a:ext cx="39639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[Implication #4]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47675" y="4274641"/>
            <a:ext cx="3886200" cy="0"/>
          </a:xfrm>
          <a:prstGeom prst="line">
            <a:avLst/>
          </a:prstGeom>
          <a:noFill/>
          <a:ln w="9525">
            <a:solidFill>
              <a:srgbClr val="E5E2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7675" y="4374654"/>
            <a:ext cx="39639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CA8A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[Timeline impact]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4648200" y="1875532"/>
            <a:ext cx="4210050" cy="2807643"/>
          </a:xfrm>
          <a:prstGeom prst="roundRect">
            <a:avLst>
              <a:gd name="adj" fmla="val 3393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10125" y="2037457"/>
            <a:ext cx="39639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150"/>
              </a:spcAft>
              <a:buNone/>
            </a:pPr>
            <a:r>
              <a:rPr lang="en-US" sz="975" b="1" dirty="0">
                <a:solidFill>
                  <a:srgbClr val="087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[If Condition B]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4810125" y="2382143"/>
            <a:ext cx="39639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900"/>
              </a:spcAft>
              <a:buNone/>
            </a:pPr>
            <a:r>
              <a:rPr lang="en-US" sz="1125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[Option B Title]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4810125" y="2848868"/>
            <a:ext cx="39639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[Implication #1]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10125" y="3218408"/>
            <a:ext cx="39639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[Implication #2]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10125" y="3587948"/>
            <a:ext cx="39639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[Implication #3]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10125" y="3957489"/>
            <a:ext cx="39639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[Implication #4]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10125" y="4274641"/>
            <a:ext cx="3886200" cy="0"/>
          </a:xfrm>
          <a:prstGeom prst="line">
            <a:avLst/>
          </a:prstGeom>
          <a:noFill/>
          <a:ln w="9525">
            <a:solidFill>
              <a:srgbClr val="E5E2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10125" y="4374654"/>
            <a:ext cx="39639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[Timeline impact]</a:t>
            </a:r>
            <a:endParaRPr lang="en-US" sz="8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87439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285750" y="413296"/>
            <a:ext cx="43816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Discussion: [Topic]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85750" y="1174700"/>
            <a:ext cx="8572500" cy="1222921"/>
          </a:xfrm>
          <a:prstGeom prst="roundRect">
            <a:avLst>
              <a:gd name="adj" fmla="val 9346"/>
            </a:avLst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95300" y="1384250"/>
            <a:ext cx="831646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RECOMMENDATION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495300" y="1607046"/>
            <a:ext cx="83164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[Recommended action or decision]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95300" y="1988046"/>
            <a:ext cx="831646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[Brief rationale - why this is the right choice]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85750" y="2550021"/>
            <a:ext cx="4210050" cy="1213098"/>
          </a:xfrm>
          <a:prstGeom prst="roundRect">
            <a:avLst>
              <a:gd name="adj" fmla="val 7852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47675" y="2711946"/>
            <a:ext cx="39639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WORKS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47675" y="2967186"/>
            <a:ext cx="39639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[Benefit #1]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447675" y="3197572"/>
            <a:ext cx="39639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[Benefit #2]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447675" y="3427958"/>
            <a:ext cx="39639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[Benefit #3]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4648200" y="2550021"/>
            <a:ext cx="4210050" cy="1213098"/>
          </a:xfrm>
          <a:prstGeom prst="roundRect">
            <a:avLst>
              <a:gd name="adj" fmla="val 7852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10125" y="2711946"/>
            <a:ext cx="39639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900" b="1" dirty="0">
                <a:solidFill>
                  <a:srgbClr val="CA8A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CONSIDERATIONS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10125" y="2967186"/>
            <a:ext cx="39639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[Risk or trade-off #1]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4810125" y="3197572"/>
            <a:ext cx="39639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[Risk or trade-off #2]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4810125" y="3427958"/>
            <a:ext cx="39639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[Mitigation approach]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285750" y="3915519"/>
            <a:ext cx="8572500" cy="657076"/>
          </a:xfrm>
          <a:prstGeom prst="roundRect">
            <a:avLst>
              <a:gd name="adj" fmla="val 14496"/>
            </a:avLst>
          </a:prstGeom>
          <a:solidFill>
            <a:srgbClr val="F2EFE4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28625" y="4058394"/>
            <a:ext cx="845248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 IF APPROVED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28625" y="4256484"/>
            <a:ext cx="845248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[What happens next and timeline]</a:t>
            </a:r>
            <a:endParaRPr lang="en-US" sz="97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87439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087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DISCUSSION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285750" y="470446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[Discussion Topic]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85750" y="2012603"/>
            <a:ext cx="8572500" cy="752475"/>
          </a:xfrm>
          <a:prstGeom prst="roundRect">
            <a:avLst>
              <a:gd name="adj" fmla="val 15190"/>
            </a:avLst>
          </a:prstGeom>
          <a:solidFill>
            <a:srgbClr val="FFFFFF"/>
          </a:solidFill>
          <a:ln w="19050">
            <a:solidFill>
              <a:srgbClr val="08749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2260253"/>
            <a:ext cx="823874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[Key question or topic to explore together]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285750" y="2955578"/>
            <a:ext cx="8572500" cy="760065"/>
          </a:xfrm>
          <a:prstGeom prst="roundRect">
            <a:avLst>
              <a:gd name="adj" fmla="val 12532"/>
            </a:avLst>
          </a:prstGeom>
          <a:solidFill>
            <a:srgbClr val="F2EFE4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47675" y="3117503"/>
            <a:ext cx="841362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47675" y="3353693"/>
            <a:ext cx="841362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[Background information to frame the discussion]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5E2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963317"/>
            <a:ext cx="87439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900"/>
              </a:spcAft>
              <a:buNone/>
            </a:pPr>
            <a:r>
              <a:rPr lang="en-US" sz="825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SECTION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285750" y="3224213"/>
            <a:ext cx="43816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85750" y="3833812"/>
            <a:ext cx="874395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Screenshots, workflow diagrams, videos, or other visual content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87439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[CATEGORY]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285750" y="413296"/>
            <a:ext cx="43816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[Asset Title]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85750" y="946696"/>
            <a:ext cx="8572500" cy="3911054"/>
          </a:xfrm>
          <a:prstGeom prst="roundRect">
            <a:avLst>
              <a:gd name="adj" fmla="val 2922"/>
            </a:avLst>
          </a:prstGeom>
          <a:solidFill>
            <a:srgbClr val="FFFFFF"/>
          </a:solidFill>
          <a:ln w="19050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366672" y="2677418"/>
            <a:ext cx="241050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Image/Screenshot/Diagram]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366672" y="2966889"/>
            <a:ext cx="241050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Recommended: 840 × 380 px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87439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[CATEGORY]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285750" y="413296"/>
            <a:ext cx="43816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[Asset Title]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85750" y="946696"/>
            <a:ext cx="8572500" cy="3138636"/>
          </a:xfrm>
          <a:prstGeom prst="roundRect">
            <a:avLst>
              <a:gd name="adj" fmla="val 3642"/>
            </a:avLst>
          </a:prstGeom>
          <a:solidFill>
            <a:srgbClr val="FFFFFF"/>
          </a:solidFill>
          <a:ln w="19050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366672" y="2291209"/>
            <a:ext cx="241050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Image/Screenshot/Diagram]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366672" y="2580680"/>
            <a:ext cx="241050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Recommended: 840 × 280 px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85750" y="4199632"/>
            <a:ext cx="8572500" cy="715268"/>
          </a:xfrm>
          <a:prstGeom prst="roundRect">
            <a:avLst>
              <a:gd name="adj" fmla="val 13317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28625" y="4342507"/>
            <a:ext cx="845248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[Caption Title]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28625" y="4586288"/>
            <a:ext cx="8452485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[Description explaining what the asset shows and why it matters]</a:t>
            </a:r>
            <a:endParaRPr lang="en-US" sz="97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87439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[CATEGORY]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285750" y="413296"/>
            <a:ext cx="43816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[Asset Title]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85750" y="2658368"/>
            <a:ext cx="5878860" cy="487561"/>
          </a:xfrm>
          <a:prstGeom prst="roundRect">
            <a:avLst>
              <a:gd name="adj" fmla="val 23443"/>
            </a:avLst>
          </a:prstGeom>
          <a:solidFill>
            <a:srgbClr val="FFFFFF"/>
          </a:solidFill>
          <a:ln w="19050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019927" y="2677418"/>
            <a:ext cx="241050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Image/Screenshot/Diagram]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019927" y="2966889"/>
            <a:ext cx="241050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Recommended: 500 × 360 px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355110" y="1754535"/>
            <a:ext cx="255320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87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355110" y="2028825"/>
            <a:ext cx="2503140" cy="1314450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497985" y="2171700"/>
            <a:ext cx="2261738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spcAft>
                <a:spcPts val="750"/>
              </a:spcAft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[Key point #1]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6497985" y="2452688"/>
            <a:ext cx="2261738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spcAft>
                <a:spcPts val="750"/>
              </a:spcAft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[Key point #2]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6497985" y="2733675"/>
            <a:ext cx="2261738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spcAft>
                <a:spcPts val="750"/>
              </a:spcAft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[Key point #3]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6497985" y="3014663"/>
            <a:ext cx="2261738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[Key point #4]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6355110" y="3457575"/>
            <a:ext cx="2503140" cy="592336"/>
          </a:xfrm>
          <a:prstGeom prst="roundRect">
            <a:avLst>
              <a:gd name="adj" fmla="val 16080"/>
            </a:avLst>
          </a:prstGeom>
          <a:solidFill>
            <a:srgbClr val="F2EFE4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478935" y="3581400"/>
            <a:ext cx="23006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6478935" y="3766096"/>
            <a:ext cx="23006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[Additional context]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5E2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963317"/>
            <a:ext cx="87439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900"/>
              </a:spcAft>
              <a:buNone/>
            </a:pPr>
            <a:r>
              <a:rPr lang="en-US" sz="825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SECTION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285750" y="3224213"/>
            <a:ext cx="43816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85750" y="3833812"/>
            <a:ext cx="874395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Resources, dashboards, and tools to share with the client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0025" y="2366070"/>
            <a:ext cx="87439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Aft>
                <a:spcPts val="1200"/>
              </a:spcAft>
              <a:buNone/>
            </a:pPr>
            <a:r>
              <a:rPr lang="en-US" sz="825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3337917" y="2665065"/>
            <a:ext cx="2468166" cy="815280"/>
          </a:xfrm>
          <a:prstGeom prst="roundRect">
            <a:avLst>
              <a:gd name="adj" fmla="val 14020"/>
            </a:avLst>
          </a:prstGeom>
          <a:solidFill>
            <a:srgbClr val="FFFFFF"/>
          </a:solidFill>
          <a:ln w="19050">
            <a:solidFill>
              <a:srgbClr val="08749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565839" y="2912715"/>
            <a:ext cx="201232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87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[Link URL or Title]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00025" y="3708946"/>
            <a:ext cx="874395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Bef>
                <a:spcPts val="1800"/>
              </a:spcBef>
              <a:spcAft>
                <a:spcPts val="900"/>
              </a:spcAft>
              <a:buNone/>
            </a:pPr>
            <a:r>
              <a:rPr lang="en-US" sz="1350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[Resource Name]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200025" y="4063157"/>
            <a:ext cx="87439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[What they'll find: metrics, history, settings, etc.]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87439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285750" y="413296"/>
            <a:ext cx="43816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[Resource Name]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85750" y="1703040"/>
            <a:ext cx="4171950" cy="752326"/>
          </a:xfrm>
          <a:prstGeom prst="roundRect">
            <a:avLst>
              <a:gd name="adj" fmla="val 12661"/>
            </a:avLst>
          </a:prstGeom>
          <a:solidFill>
            <a:srgbClr val="FFFFFF"/>
          </a:solidFill>
          <a:ln w="19050">
            <a:solidFill>
              <a:srgbClr val="08749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1874490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087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457200" y="2097286"/>
            <a:ext cx="390563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87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[URL]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85750" y="2569666"/>
            <a:ext cx="425538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YOU'LL FIND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85750" y="2843957"/>
            <a:ext cx="4171950" cy="1257300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28625" y="2986832"/>
            <a:ext cx="3963924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[Feature/content #1]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428625" y="3248769"/>
            <a:ext cx="3963924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[Feature/content #2]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428625" y="3510707"/>
            <a:ext cx="3963924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[Feature/content #3]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428625" y="3772644"/>
            <a:ext cx="3963924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[Feature/content #4]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4648200" y="2658368"/>
            <a:ext cx="4210050" cy="487561"/>
          </a:xfrm>
          <a:prstGeom prst="roundRect">
            <a:avLst>
              <a:gd name="adj" fmla="val 23443"/>
            </a:avLst>
          </a:prstGeom>
          <a:solidFill>
            <a:srgbClr val="FFFFFF"/>
          </a:solidFill>
          <a:ln w="19050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986763" y="2677418"/>
            <a:ext cx="153292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[Preview Screenshot]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86763" y="2966889"/>
            <a:ext cx="15329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Recommended: 400 × 360 px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5E2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963317"/>
            <a:ext cx="87439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900"/>
              </a:spcAft>
              <a:buNone/>
            </a:pPr>
            <a:r>
              <a:rPr lang="en-US" sz="825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SECTION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285750" y="3224213"/>
            <a:ext cx="43816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Opportunities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85750" y="3833812"/>
            <a:ext cx="874395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projects, expansions, or upsell opportunities to explore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87439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285750" y="413296"/>
            <a:ext cx="43816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Opportunities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85750" y="1834455"/>
            <a:ext cx="2768650" cy="2135386"/>
          </a:xfrm>
          <a:prstGeom prst="roundRect">
            <a:avLst>
              <a:gd name="adj" fmla="val 4461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28625" y="1977330"/>
            <a:ext cx="25325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087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28625" y="2301180"/>
            <a:ext cx="253255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[Opportunity Title]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28625" y="2716411"/>
            <a:ext cx="25325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150"/>
              </a:spcAft>
              <a:buNone/>
            </a:pPr>
            <a:r>
              <a:rPr lang="en-US" sz="750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28625" y="3021211"/>
            <a:ext cx="2532558" cy="136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[Problem description]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428625" y="3385989"/>
            <a:ext cx="25325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150"/>
              </a:spcAft>
              <a:buNone/>
            </a:pPr>
            <a:r>
              <a:rPr lang="en-US" sz="750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28625" y="3690789"/>
            <a:ext cx="2532558" cy="136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[Proposed solution]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3187750" y="1834455"/>
            <a:ext cx="2768650" cy="2135386"/>
          </a:xfrm>
          <a:prstGeom prst="roundRect">
            <a:avLst>
              <a:gd name="adj" fmla="val 4461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330625" y="1977330"/>
            <a:ext cx="25325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DB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2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330625" y="2301180"/>
            <a:ext cx="253255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[Opportunity Title]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330625" y="2716411"/>
            <a:ext cx="25325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150"/>
              </a:spcAft>
              <a:buNone/>
            </a:pPr>
            <a:r>
              <a:rPr lang="en-US" sz="750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330625" y="3021211"/>
            <a:ext cx="2532558" cy="136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[Problem description]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3330625" y="3385989"/>
            <a:ext cx="25325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150"/>
              </a:spcAft>
              <a:buNone/>
            </a:pPr>
            <a:r>
              <a:rPr lang="en-US" sz="750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330625" y="3690789"/>
            <a:ext cx="2532558" cy="136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[Proposed solution]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6089749" y="1834455"/>
            <a:ext cx="2768650" cy="2135386"/>
          </a:xfrm>
          <a:prstGeom prst="roundRect">
            <a:avLst>
              <a:gd name="adj" fmla="val 4461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232624" y="1977330"/>
            <a:ext cx="25325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3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232624" y="2301180"/>
            <a:ext cx="253255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[Opportunity Title]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232624" y="2716411"/>
            <a:ext cx="25325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150"/>
              </a:spcAft>
              <a:buNone/>
            </a:pPr>
            <a:r>
              <a:rPr lang="en-US" sz="750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232624" y="3021211"/>
            <a:ext cx="2532558" cy="136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[Problem description]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6232624" y="3385989"/>
            <a:ext cx="25325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150"/>
              </a:spcAft>
              <a:buNone/>
            </a:pPr>
            <a:r>
              <a:rPr lang="en-US" sz="750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232624" y="3690789"/>
            <a:ext cx="2532558" cy="136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[Proposed solution]</a:t>
            </a:r>
            <a:endParaRPr lang="en-US" sz="82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87439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285750" y="413296"/>
            <a:ext cx="43816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[Opportunity Title]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85750" y="1984921"/>
            <a:ext cx="4191000" cy="960090"/>
          </a:xfrm>
          <a:prstGeom prst="roundRect">
            <a:avLst>
              <a:gd name="adj" fmla="val 9921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47675" y="2146846"/>
            <a:ext cx="394449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CA8A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47675" y="2383036"/>
            <a:ext cx="394449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[Detailed problem description - what pain point exists and who feels it]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85750" y="3059311"/>
            <a:ext cx="4191000" cy="760065"/>
          </a:xfrm>
          <a:prstGeom prst="roundRect">
            <a:avLst>
              <a:gd name="adj" fmla="val 12532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47675" y="3221236"/>
            <a:ext cx="394449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087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47675" y="3457426"/>
            <a:ext cx="39444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[Detailed solution description - what we would build/implement]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667250" y="1520428"/>
            <a:ext cx="4191000" cy="1194048"/>
          </a:xfrm>
          <a:prstGeom prst="roundRect">
            <a:avLst>
              <a:gd name="adj" fmla="val 7977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29175" y="1682353"/>
            <a:ext cx="394449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VALUE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29175" y="1918543"/>
            <a:ext cx="394449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[Value point #1]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4829175" y="2148929"/>
            <a:ext cx="394449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[Value point #2]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4829175" y="2379315"/>
            <a:ext cx="394449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[Value point #3]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4667250" y="2828776"/>
            <a:ext cx="2038350" cy="683716"/>
          </a:xfrm>
          <a:prstGeom prst="roundRect">
            <a:avLst>
              <a:gd name="adj" fmla="val 13931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792599" y="2971651"/>
            <a:ext cx="17876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4792599" y="3156347"/>
            <a:ext cx="178765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 weeks]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19900" y="2828776"/>
            <a:ext cx="2038350" cy="683716"/>
          </a:xfrm>
          <a:prstGeom prst="roundRect">
            <a:avLst>
              <a:gd name="adj" fmla="val 13931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945249" y="2971651"/>
            <a:ext cx="17876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6945249" y="3156347"/>
            <a:ext cx="178765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[$X - $Y]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67250" y="3626793"/>
            <a:ext cx="4191000" cy="657076"/>
          </a:xfrm>
          <a:prstGeom prst="roundRect">
            <a:avLst>
              <a:gd name="adj" fmla="val 14496"/>
            </a:avLst>
          </a:prstGeom>
          <a:solidFill>
            <a:srgbClr val="F2EFE4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810125" y="3769668"/>
            <a:ext cx="39833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10125" y="3967758"/>
            <a:ext cx="398335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[What happens if they're interested]</a:t>
            </a:r>
            <a:endParaRPr lang="en-US" sz="97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87439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OPPORTUNITIES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285750" y="413296"/>
            <a:ext cx="43816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 to Explore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85750" y="1348383"/>
            <a:ext cx="4238625" cy="804714"/>
          </a:xfrm>
          <a:prstGeom prst="roundRect">
            <a:avLst>
              <a:gd name="adj" fmla="val 11837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28625" y="1491258"/>
            <a:ext cx="40319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087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28625" y="1662708"/>
            <a:ext cx="403193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[Opportunity Title]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428625" y="1874044"/>
            <a:ext cx="4031933" cy="136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[One-line description]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4619625" y="1348383"/>
            <a:ext cx="4238625" cy="804714"/>
          </a:xfrm>
          <a:prstGeom prst="roundRect">
            <a:avLst>
              <a:gd name="adj" fmla="val 11837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762500" y="1491258"/>
            <a:ext cx="40319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DB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762500" y="1662708"/>
            <a:ext cx="403193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[Opportunity Title]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4762500" y="1874044"/>
            <a:ext cx="4031933" cy="136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[One-line description]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285750" y="2248346"/>
            <a:ext cx="4238625" cy="804714"/>
          </a:xfrm>
          <a:prstGeom prst="roundRect">
            <a:avLst>
              <a:gd name="adj" fmla="val 11837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28625" y="2391221"/>
            <a:ext cx="40319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28625" y="2562671"/>
            <a:ext cx="403193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[Opportunity Title]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428625" y="2774007"/>
            <a:ext cx="4031933" cy="136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[One-line description]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4619625" y="2248346"/>
            <a:ext cx="4238625" cy="804714"/>
          </a:xfrm>
          <a:prstGeom prst="roundRect">
            <a:avLst>
              <a:gd name="adj" fmla="val 11837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762500" y="2391221"/>
            <a:ext cx="40319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CA8A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762500" y="2562671"/>
            <a:ext cx="403193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[Opportunity Title]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4762500" y="2774007"/>
            <a:ext cx="4031933" cy="136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[One-line description]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285750" y="3148310"/>
            <a:ext cx="4238625" cy="804714"/>
          </a:xfrm>
          <a:prstGeom prst="roundRect">
            <a:avLst>
              <a:gd name="adj" fmla="val 11837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28625" y="3291185"/>
            <a:ext cx="40319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28625" y="3462635"/>
            <a:ext cx="403193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[Opportunity Title]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428625" y="3673971"/>
            <a:ext cx="4031933" cy="136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[One-line description]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4619625" y="3148310"/>
            <a:ext cx="4238625" cy="804714"/>
          </a:xfrm>
          <a:prstGeom prst="roundRect">
            <a:avLst>
              <a:gd name="adj" fmla="val 11837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762500" y="3291185"/>
            <a:ext cx="40319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087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762500" y="3462635"/>
            <a:ext cx="403193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[Opportunity Title]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4762500" y="3673971"/>
            <a:ext cx="4031933" cy="136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[One-line description]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285750" y="4048274"/>
            <a:ext cx="8572500" cy="407640"/>
          </a:xfrm>
          <a:prstGeom prst="roundRect">
            <a:avLst>
              <a:gd name="adj" fmla="val 23366"/>
            </a:avLst>
          </a:prstGeom>
          <a:solidFill>
            <a:srgbClr val="F2EFE4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26327" y="4172099"/>
            <a:ext cx="849134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[Which of these would you like to explore further?]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5E2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963317"/>
            <a:ext cx="87439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900"/>
              </a:spcAft>
              <a:buNone/>
            </a:pPr>
            <a:r>
              <a:rPr lang="en-US" sz="825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SECTION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285750" y="3224213"/>
            <a:ext cx="43816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85750" y="3833812"/>
            <a:ext cx="874395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discussion, structured feedback requests, or pulse checks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87439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087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DISCUSSION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285750" y="470446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[Discussion Topic]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85750" y="2435423"/>
            <a:ext cx="8572500" cy="8572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08749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71500" y="2721173"/>
            <a:ext cx="81610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[Question or topic for open discussion]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87439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CA8A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REQUEST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285750" y="470446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We'd Like Your Input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85750" y="2073622"/>
            <a:ext cx="2755850" cy="1733401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85775" y="2273647"/>
            <a:ext cx="24029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087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[CATEGORY 1]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85775" y="2700338"/>
            <a:ext cx="240291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[Question or topic]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5775" y="3218408"/>
            <a:ext cx="2355800" cy="388590"/>
          </a:xfrm>
          <a:prstGeom prst="roundRect">
            <a:avLst>
              <a:gd name="adj" fmla="val 19609"/>
            </a:avLst>
          </a:prstGeom>
          <a:solidFill>
            <a:srgbClr val="F2EF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0075" y="3332708"/>
            <a:ext cx="21697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[Space for discussion notes]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194000" y="2073622"/>
            <a:ext cx="2755850" cy="1733401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394025" y="2273647"/>
            <a:ext cx="24029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[CATEGORY 2]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394025" y="2700338"/>
            <a:ext cx="240291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[Question or topic]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94025" y="3218408"/>
            <a:ext cx="2355800" cy="388590"/>
          </a:xfrm>
          <a:prstGeom prst="roundRect">
            <a:avLst>
              <a:gd name="adj" fmla="val 19609"/>
            </a:avLst>
          </a:prstGeom>
          <a:solidFill>
            <a:srgbClr val="F2EF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508325" y="3332708"/>
            <a:ext cx="21697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[Space for discussion notes]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102251" y="2073622"/>
            <a:ext cx="2755850" cy="1733401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302276" y="2273647"/>
            <a:ext cx="24029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DB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[CATEGORY 3]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302276" y="2700338"/>
            <a:ext cx="240291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[Question or topic]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02276" y="3218408"/>
            <a:ext cx="2355800" cy="388590"/>
          </a:xfrm>
          <a:prstGeom prst="roundRect">
            <a:avLst>
              <a:gd name="adj" fmla="val 19609"/>
            </a:avLst>
          </a:prstGeom>
          <a:solidFill>
            <a:srgbClr val="F2EF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416576" y="3332708"/>
            <a:ext cx="21697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[Space for discussion notes]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5E2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963317"/>
            <a:ext cx="87439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900"/>
              </a:spcAft>
              <a:buNone/>
            </a:pPr>
            <a:r>
              <a:rPr lang="en-US" sz="825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SECTION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285750" y="3224213"/>
            <a:ext cx="43816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Scorecard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85750" y="3833812"/>
            <a:ext cx="874395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metrics, engagement health, and retrospective insights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87439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285750" y="413296"/>
            <a:ext cx="43816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Scorecard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85750" y="1867942"/>
            <a:ext cx="42748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87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INDICATORS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85750" y="2123182"/>
            <a:ext cx="2047875" cy="859036"/>
          </a:xfrm>
          <a:prstGeom prst="roundRect">
            <a:avLst>
              <a:gd name="adj" fmla="val 11088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11004" y="2494657"/>
            <a:ext cx="179736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[METRIC 1]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411004" y="2679353"/>
            <a:ext cx="179736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[Status/Value]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428875" y="2123182"/>
            <a:ext cx="2047875" cy="859036"/>
          </a:xfrm>
          <a:prstGeom prst="roundRect">
            <a:avLst>
              <a:gd name="adj" fmla="val 11088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554129" y="2494657"/>
            <a:ext cx="179736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[METRIC 2]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2554129" y="2679353"/>
            <a:ext cx="179736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[Status/Value]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85750" y="3077468"/>
            <a:ext cx="2047875" cy="859036"/>
          </a:xfrm>
          <a:prstGeom prst="roundRect">
            <a:avLst>
              <a:gd name="adj" fmla="val 11088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11004" y="3448943"/>
            <a:ext cx="179736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[METRIC 3]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411004" y="3633639"/>
            <a:ext cx="179736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[Status/Value]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428875" y="3077468"/>
            <a:ext cx="2047875" cy="859036"/>
          </a:xfrm>
          <a:prstGeom prst="roundRect">
            <a:avLst>
              <a:gd name="adj" fmla="val 11088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554129" y="3448943"/>
            <a:ext cx="179736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[METRIC 4]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2554129" y="3633639"/>
            <a:ext cx="179736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[Status/Value]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67250" y="1660475"/>
            <a:ext cx="42748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WENT WELL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67250" y="1915716"/>
            <a:ext cx="4191000" cy="919758"/>
          </a:xfrm>
          <a:prstGeom prst="roundRect">
            <a:avLst>
              <a:gd name="adj" fmla="val 10356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810125" y="2058591"/>
            <a:ext cx="398335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[Positive #1]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4810125" y="2288977"/>
            <a:ext cx="398335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[Positive #2]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4810125" y="2519363"/>
            <a:ext cx="398335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[Positive #3]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4667250" y="2968823"/>
            <a:ext cx="42748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b="1" dirty="0">
                <a:solidFill>
                  <a:srgbClr val="CA8A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LEARNED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67250" y="3224064"/>
            <a:ext cx="4191000" cy="919758"/>
          </a:xfrm>
          <a:prstGeom prst="roundRect">
            <a:avLst>
              <a:gd name="adj" fmla="val 10356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810125" y="3366939"/>
            <a:ext cx="398335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[Learning #1]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4810125" y="3597325"/>
            <a:ext cx="398335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[Learning #2]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4810125" y="3827711"/>
            <a:ext cx="398335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[Learning #3]</a:t>
            </a:r>
            <a:endParaRPr lang="en-US" sz="97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E5E2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963317"/>
            <a:ext cx="87439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900"/>
              </a:spcAft>
              <a:buNone/>
            </a:pPr>
            <a:r>
              <a:rPr lang="en-US" sz="825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SECTION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285750" y="3224213"/>
            <a:ext cx="43816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Looking Ahead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85750" y="3833812"/>
            <a:ext cx="874395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Timeline, next period focus areas, and key upcoming dates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87439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285750" y="413296"/>
            <a:ext cx="43816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Looking Ahead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85750" y="1914674"/>
            <a:ext cx="512978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087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TIMELINE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85750" y="2341364"/>
            <a:ext cx="5029200" cy="1548408"/>
          </a:xfrm>
          <a:prstGeom prst="roundRect">
            <a:avLst>
              <a:gd name="adj" fmla="val 6151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47675" y="2542282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6A3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90575" y="2503289"/>
            <a:ext cx="114050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[PHASE 1]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90575" y="2663279"/>
            <a:ext cx="114050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[Date range] - Complete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447675" y="3001268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08749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90575" y="2962275"/>
            <a:ext cx="110119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87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[PHASE 2] - Current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90575" y="3122265"/>
            <a:ext cx="110119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[Date range]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447675" y="3460254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E5E2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90575" y="3421261"/>
            <a:ext cx="58824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[PHASE 3]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90575" y="3581251"/>
            <a:ext cx="58824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[Date range]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5505450" y="1651843"/>
            <a:ext cx="341985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PERIOD FOCUS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505450" y="1926134"/>
            <a:ext cx="3352800" cy="919758"/>
          </a:xfrm>
          <a:prstGeom prst="roundRect">
            <a:avLst>
              <a:gd name="adj" fmla="val 10356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648325" y="2069009"/>
            <a:ext cx="312839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[Priority #1]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5648325" y="2299395"/>
            <a:ext cx="312839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[Priority #2]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5648325" y="2529780"/>
            <a:ext cx="312839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[Priority #3]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5505450" y="2998291"/>
            <a:ext cx="341985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b="1" dirty="0">
                <a:solidFill>
                  <a:srgbClr val="CA8A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DATES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505450" y="3272582"/>
            <a:ext cx="3352800" cy="880021"/>
          </a:xfrm>
          <a:prstGeom prst="roundRect">
            <a:avLst>
              <a:gd name="adj" fmla="val 10824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648325" y="3415457"/>
            <a:ext cx="312839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[Date]</a:t>
            </a:r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[Event]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48325" y="3632597"/>
            <a:ext cx="312839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[Date]</a:t>
            </a:r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[Event]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648325" y="3849737"/>
            <a:ext cx="312839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[Date]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[Event]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E5E2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963317"/>
            <a:ext cx="87439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900"/>
              </a:spcAft>
              <a:buNone/>
            </a:pPr>
            <a:r>
              <a:rPr lang="en-US" sz="825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SECTION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285750" y="3224213"/>
            <a:ext cx="43816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Items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85750" y="3833812"/>
            <a:ext cx="874395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Commitments and next steps for client and Cadre teams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87439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6E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COMMITMENTS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285750" y="413296"/>
            <a:ext cx="43816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Items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85750" y="1993553"/>
            <a:ext cx="42748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DB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[CLIENT NAME] TEAM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85750" y="2420243"/>
            <a:ext cx="4191000" cy="14287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14375" y="2582168"/>
            <a:ext cx="8706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[Action item #1]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714375" y="2886968"/>
            <a:ext cx="8706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[Action item #2]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714375" y="3191768"/>
            <a:ext cx="8706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[Action item #3]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714375" y="3496568"/>
            <a:ext cx="8706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[Action item #4]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4667250" y="1993553"/>
            <a:ext cx="42748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087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CADRE TEAM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667250" y="2420243"/>
            <a:ext cx="4191000" cy="14287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2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095875" y="2582168"/>
            <a:ext cx="8706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[Action item #1]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5095875" y="2886968"/>
            <a:ext cx="8706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[Action item #2]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5095875" y="3191768"/>
            <a:ext cx="8706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[Action item #3]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5095875" y="3496568"/>
            <a:ext cx="8706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0C0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[Action item #4]</a:t>
            </a:r>
            <a:endParaRPr lang="en-US" sz="9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Cadre MBR Template</dc:title>
  <dc:subject>Monthly Business Review Template - Full Variation Library</dc:subject>
  <dc:creator>Cadre AI</dc:creator>
  <cp:lastModifiedBy>Cadre AI</cp:lastModifiedBy>
  <cp:revision>1</cp:revision>
  <dcterms:created xsi:type="dcterms:W3CDTF">2026-01-06T23:38:57Z</dcterms:created>
  <dcterms:modified xsi:type="dcterms:W3CDTF">2026-01-06T23:38:57Z</dcterms:modified>
</cp:coreProperties>
</file>